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15"/>
  </p:notesMasterIdLst>
  <p:sldIdLst>
    <p:sldId id="256" r:id="rId2"/>
    <p:sldId id="257" r:id="rId3"/>
    <p:sldId id="258" r:id="rId4"/>
    <p:sldId id="259" r:id="rId5"/>
    <p:sldId id="260" r:id="rId6"/>
    <p:sldId id="261" r:id="rId7"/>
    <p:sldId id="265" r:id="rId8"/>
    <p:sldId id="262" r:id="rId9"/>
    <p:sldId id="266" r:id="rId10"/>
    <p:sldId id="267" r:id="rId11"/>
    <p:sldId id="268" r:id="rId12"/>
    <p:sldId id="269"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65831" autoAdjust="0"/>
  </p:normalViewPr>
  <p:slideViewPr>
    <p:cSldViewPr snapToGrid="0">
      <p:cViewPr>
        <p:scale>
          <a:sx n="66" d="100"/>
          <a:sy n="66" d="100"/>
        </p:scale>
        <p:origin x="592" y="-1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BA2908-4549-4A73-AEB8-45353AEDA749}" type="datetimeFigureOut">
              <a:rPr lang="fr-FR" smtClean="0"/>
              <a:t>30/03/2026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AEF4E-7282-43B8-8CCB-172F28C0DA52}" type="slidenum">
              <a:rPr lang="fr-FR" smtClean="0"/>
              <a:t>‹N°›</a:t>
            </a:fld>
            <a:endParaRPr lang="fr-FR"/>
          </a:p>
        </p:txBody>
      </p:sp>
    </p:spTree>
    <p:extLst>
      <p:ext uri="{BB962C8B-B14F-4D97-AF65-F5344CB8AC3E}">
        <p14:creationId xmlns:p14="http://schemas.microsoft.com/office/powerpoint/2010/main" val="770495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Ici je n’ai pas mis toutes les hypothèses mentionnées par l’article mais seulement celles qui me semblaient les plus importantes.</a:t>
            </a:r>
          </a:p>
        </p:txBody>
      </p:sp>
      <p:sp>
        <p:nvSpPr>
          <p:cNvPr id="4" name="Espace réservé du numéro de diapositive 3"/>
          <p:cNvSpPr>
            <a:spLocks noGrp="1"/>
          </p:cNvSpPr>
          <p:nvPr>
            <p:ph type="sldNum" sz="quarter" idx="5"/>
          </p:nvPr>
        </p:nvSpPr>
        <p:spPr/>
        <p:txBody>
          <a:bodyPr/>
          <a:lstStyle/>
          <a:p>
            <a:fld id="{2C9AEF4E-7282-43B8-8CCB-172F28C0DA52}" type="slidenum">
              <a:rPr lang="fr-FR" smtClean="0"/>
              <a:t>6</a:t>
            </a:fld>
            <a:endParaRPr lang="fr-FR"/>
          </a:p>
        </p:txBody>
      </p:sp>
    </p:spTree>
    <p:extLst>
      <p:ext uri="{BB962C8B-B14F-4D97-AF65-F5344CB8AC3E}">
        <p14:creationId xmlns:p14="http://schemas.microsoft.com/office/powerpoint/2010/main" val="2332833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Petite particularité ici où le taux de dégradation de mdm2 nucléaire est introduit comme une variable et non pas comme un paramètre du système puisque il va dépendre de la concentration en ADN endommagé. A l’état de repos, donc sans dommages à l’ADN, il sera alors égal à k</a:t>
            </a:r>
            <a:r>
              <a:rPr lang="fr-FR" baseline="-25000" dirty="0"/>
              <a:t>d2</a:t>
            </a:r>
            <a:r>
              <a:rPr lang="fr-FR" dirty="0"/>
              <a:t>’, le taux de dégradation de mdm2 cytoplasmique. </a:t>
            </a:r>
          </a:p>
          <a:p>
            <a:endParaRPr lang="fr-FR" dirty="0"/>
          </a:p>
          <a:p>
            <a:r>
              <a:rPr lang="fr-FR" dirty="0"/>
              <a:t>Le V</a:t>
            </a:r>
            <a:r>
              <a:rPr lang="fr-FR" baseline="-25000" dirty="0"/>
              <a:t>ratio</a:t>
            </a:r>
            <a:r>
              <a:rPr lang="fr-FR" dirty="0"/>
              <a:t> dans l’équation d’évolution de mdm2 nucléaire est ajouté aux termes de sorti et d’entré de mdm2 dans le noyau pour prendre en compte la différence de volume entre le noyau et le cytoplasme entraînant une évolution 10 à 20 fois plus rapide de la concentration de mdm2 dans le noyau que dans le cytoplasme (V</a:t>
            </a:r>
            <a:r>
              <a:rPr lang="fr-FR" baseline="-25000" dirty="0"/>
              <a:t>ratio</a:t>
            </a:r>
            <a:r>
              <a:rPr lang="fr-FR" dirty="0"/>
              <a:t> sera alors mit égal à 15).</a:t>
            </a:r>
          </a:p>
          <a:p>
            <a:endParaRPr lang="fr-FR" dirty="0"/>
          </a:p>
          <a:p>
            <a:r>
              <a:rPr lang="fr-FR" dirty="0"/>
              <a:t>L’exposant de Hill m est mit à 3 car il a été montré que l’activation de la transcription de mdm2 cytoplasmique est beaucoup plus efficace lorsque p53 est sous forme tétramérique. L’activation de Hill se retrouve dans l’équation d’évolution de mdm2 cytoplasmique (2</a:t>
            </a:r>
            <a:r>
              <a:rPr lang="fr-FR" baseline="30000" dirty="0"/>
              <a:t>e</a:t>
            </a:r>
            <a:r>
              <a:rPr lang="fr-FR" dirty="0"/>
              <a:t> terme).</a:t>
            </a:r>
          </a:p>
          <a:p>
            <a:endParaRPr lang="fr-FR" dirty="0"/>
          </a:p>
          <a:p>
            <a:r>
              <a:rPr lang="fr-FR" dirty="0"/>
              <a:t>La plupart des termes sont donc linéaires à l’exception de l’activation de la transcription qui est une fonction de Hill, l’inhibition de la phosphorylation par p53tot, la réparation de l’ADN par p53tot qui est introduit via une fonction de Michaelis Menten et l’augmentation de kd2 qui est également sous forme de fonction de Michaelis Menten. </a:t>
            </a:r>
          </a:p>
          <a:p>
            <a:endParaRPr lang="fr-FR" dirty="0"/>
          </a:p>
        </p:txBody>
      </p:sp>
      <p:sp>
        <p:nvSpPr>
          <p:cNvPr id="4" name="Espace réservé du numéro de diapositive 3"/>
          <p:cNvSpPr>
            <a:spLocks noGrp="1"/>
          </p:cNvSpPr>
          <p:nvPr>
            <p:ph type="sldNum" sz="quarter" idx="5"/>
          </p:nvPr>
        </p:nvSpPr>
        <p:spPr/>
        <p:txBody>
          <a:bodyPr/>
          <a:lstStyle/>
          <a:p>
            <a:fld id="{2C9AEF4E-7282-43B8-8CCB-172F28C0DA52}" type="slidenum">
              <a:rPr lang="fr-FR" smtClean="0"/>
              <a:t>7</a:t>
            </a:fld>
            <a:endParaRPr lang="fr-FR"/>
          </a:p>
        </p:txBody>
      </p:sp>
    </p:spTree>
    <p:extLst>
      <p:ext uri="{BB962C8B-B14F-4D97-AF65-F5344CB8AC3E}">
        <p14:creationId xmlns:p14="http://schemas.microsoft.com/office/powerpoint/2010/main" val="4099435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Simulation des séries temporelles des concentrations de p53tot et des différentes formes de mdm2. </a:t>
            </a:r>
          </a:p>
          <a:p>
            <a:r>
              <a:rPr lang="fr-FR" dirty="0"/>
              <a:t>Le modèle construit produit donc bien des oscillations.  </a:t>
            </a:r>
          </a:p>
        </p:txBody>
      </p:sp>
      <p:sp>
        <p:nvSpPr>
          <p:cNvPr id="4" name="Espace réservé du numéro de diapositive 3"/>
          <p:cNvSpPr>
            <a:spLocks noGrp="1"/>
          </p:cNvSpPr>
          <p:nvPr>
            <p:ph type="sldNum" sz="quarter" idx="5"/>
          </p:nvPr>
        </p:nvSpPr>
        <p:spPr/>
        <p:txBody>
          <a:bodyPr/>
          <a:lstStyle/>
          <a:p>
            <a:fld id="{2C9AEF4E-7282-43B8-8CCB-172F28C0DA52}" type="slidenum">
              <a:rPr lang="fr-FR" smtClean="0"/>
              <a:t>8</a:t>
            </a:fld>
            <a:endParaRPr lang="fr-FR"/>
          </a:p>
        </p:txBody>
      </p:sp>
    </p:spTree>
    <p:extLst>
      <p:ext uri="{BB962C8B-B14F-4D97-AF65-F5344CB8AC3E}">
        <p14:creationId xmlns:p14="http://schemas.microsoft.com/office/powerpoint/2010/main" val="2950433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La simulation obtient comme dans l’expérience expérimentale bien des oscillations à amplitudes et périodes constantes cependant la concentration de mdm2 nucléaire augmente seulement lorsque p53 atteint son pic tandis que dans les expériences la concentration de mdm2 nucléaire commence à augmenter pendant l’augmentation de p53. Les auteurs supposent soit que l’inhibition dans le modèle de p53tot sur la phosphorylation de mdm2 cytoplasmique est trop forte soit que l’augmentation précoce de mdm2 nucléaire observé est lié à du bruit et que les chercheurs auraient mesurés en plus de la fluorescence de mdm2 cytoplasmique phosphorylé ou non phosphorylé ou les deux. D’après moi, cette différence est plutôt liée à la construction du modèle (première hypothèse des auteurs) puisqu’ils mentionnent que l’inhibition par p53 de la phosphorylation a été très simplifié : ils expliquent que la </a:t>
            </a:r>
            <a:r>
              <a:rPr lang="fr-FR" dirty="0" err="1"/>
              <a:t>phosphrylation</a:t>
            </a:r>
            <a:r>
              <a:rPr lang="fr-FR" dirty="0"/>
              <a:t> est catalysé par l’Akt kinase qui elle-même est inhibé par PTEN activé par p53, donc en réalité l’inhibition à au moins 2 intermédiaires que l’on ne retrouve pas dans le modèle.</a:t>
            </a:r>
          </a:p>
        </p:txBody>
      </p:sp>
      <p:sp>
        <p:nvSpPr>
          <p:cNvPr id="4" name="Espace réservé du numéro de diapositive 3"/>
          <p:cNvSpPr>
            <a:spLocks noGrp="1"/>
          </p:cNvSpPr>
          <p:nvPr>
            <p:ph type="sldNum" sz="quarter" idx="5"/>
          </p:nvPr>
        </p:nvSpPr>
        <p:spPr/>
        <p:txBody>
          <a:bodyPr/>
          <a:lstStyle/>
          <a:p>
            <a:fld id="{2C9AEF4E-7282-43B8-8CCB-172F28C0DA52}" type="slidenum">
              <a:rPr lang="fr-FR" smtClean="0"/>
              <a:t>9</a:t>
            </a:fld>
            <a:endParaRPr lang="fr-FR"/>
          </a:p>
        </p:txBody>
      </p:sp>
    </p:spTree>
    <p:extLst>
      <p:ext uri="{BB962C8B-B14F-4D97-AF65-F5344CB8AC3E}">
        <p14:creationId xmlns:p14="http://schemas.microsoft.com/office/powerpoint/2010/main" val="2212737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Simulations des oscillations du réseau p53/mdm2 en changeant le temps d’irradiation. Ces simulations ont été réalisé pour vérifier que le graphique présenté dans l’article (figure de gauche) était correct et que le modèle construit fournit bien des oscillations à amplitudes et périodes constantes et que l’intensité du signal modifie seulement le nombre d’oscillation.</a:t>
            </a:r>
          </a:p>
          <a:p>
            <a:r>
              <a:rPr lang="fr-FR" dirty="0"/>
              <a:t>Attention, les échelles de l’axe temporel des deux simulations sont différentes, les périodes sont bien similaires (environ 400min).</a:t>
            </a:r>
          </a:p>
        </p:txBody>
      </p:sp>
      <p:sp>
        <p:nvSpPr>
          <p:cNvPr id="4" name="Espace réservé du numéro de diapositive 3"/>
          <p:cNvSpPr>
            <a:spLocks noGrp="1"/>
          </p:cNvSpPr>
          <p:nvPr>
            <p:ph type="sldNum" sz="quarter" idx="5"/>
          </p:nvPr>
        </p:nvSpPr>
        <p:spPr/>
        <p:txBody>
          <a:bodyPr/>
          <a:lstStyle/>
          <a:p>
            <a:fld id="{2C9AEF4E-7282-43B8-8CCB-172F28C0DA52}" type="slidenum">
              <a:rPr lang="fr-FR" smtClean="0"/>
              <a:t>10</a:t>
            </a:fld>
            <a:endParaRPr lang="fr-FR"/>
          </a:p>
        </p:txBody>
      </p:sp>
    </p:spTree>
    <p:extLst>
      <p:ext uri="{BB962C8B-B14F-4D97-AF65-F5344CB8AC3E}">
        <p14:creationId xmlns:p14="http://schemas.microsoft.com/office/powerpoint/2010/main" val="15663374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Dans l’article, les auteurs proposent une expérience pour pouvoir définir si les oscillations du réseau p53/mdm2 proviennent d’une seule longue boucle de rétroaction négative ou de la combinaison d’une boucle de rétroaction négative avec une boucle de rétroaction positive comme le modèle construit au sein de cet article (modèle d’inhibition mutuelle, </a:t>
            </a:r>
            <a:r>
              <a:rPr lang="fr-FR" dirty="0" err="1"/>
              <a:t>cf</a:t>
            </a:r>
            <a:r>
              <a:rPr lang="fr-FR" dirty="0"/>
              <a:t> slide précédente). Ils proposent alors de conduire des expériences avec des mutants où la boucle de rétroaction négative est supprimée, c’est-à-dire des cellules mutantes où la concentration de mdm2 cytoplasmique est indépendante de la concentration de p53 dans la cellule (la transcription de mdm2 ne dépend plus du facteur de transcription p53). Si le réseau dépend d’une boucle de rétroaction positive alors sans boucle négative, le système est bistable avec un état stationnaire où la concentration de p53 est proche de 0 (p53 OFF) et un autre où la concentration de p53 est élevé (environ 9, p53 ON). Alors si on place un inducteur qui augmente la concentration de p53, le système restera bloqué au 2</a:t>
            </a:r>
            <a:r>
              <a:rPr lang="fr-FR" baseline="30000" dirty="0"/>
              <a:t>e</a:t>
            </a:r>
            <a:r>
              <a:rPr lang="fr-FR" dirty="0"/>
              <a:t> état stationnaire (p53 ON). C’est ce que l’on observe avec la série temporelle à droite : après avoir retiré l’inducteur, p53 converge vers le 2</a:t>
            </a:r>
            <a:r>
              <a:rPr lang="fr-FR" baseline="30000" dirty="0"/>
              <a:t>e</a:t>
            </a:r>
            <a:r>
              <a:rPr lang="fr-FR" dirty="0"/>
              <a:t> état stationnaire. </a:t>
            </a:r>
          </a:p>
          <a:p>
            <a:r>
              <a:rPr lang="fr-FR" dirty="0"/>
              <a:t>Cependant, si le réseau ne dépend pas d’une boucle de rétroaction négative alors le système n’a qu’un état stationnaire stable (p53 OFF) et la concentration de p53 diminuera proche de 0.</a:t>
            </a:r>
          </a:p>
        </p:txBody>
      </p:sp>
      <p:sp>
        <p:nvSpPr>
          <p:cNvPr id="4" name="Espace réservé du numéro de diapositive 3"/>
          <p:cNvSpPr>
            <a:spLocks noGrp="1"/>
          </p:cNvSpPr>
          <p:nvPr>
            <p:ph type="sldNum" sz="quarter" idx="5"/>
          </p:nvPr>
        </p:nvSpPr>
        <p:spPr/>
        <p:txBody>
          <a:bodyPr/>
          <a:lstStyle/>
          <a:p>
            <a:fld id="{2C9AEF4E-7282-43B8-8CCB-172F28C0DA52}" type="slidenum">
              <a:rPr lang="fr-FR" smtClean="0"/>
              <a:t>13</a:t>
            </a:fld>
            <a:endParaRPr lang="fr-FR"/>
          </a:p>
        </p:txBody>
      </p:sp>
    </p:spTree>
    <p:extLst>
      <p:ext uri="{BB962C8B-B14F-4D97-AF65-F5344CB8AC3E}">
        <p14:creationId xmlns:p14="http://schemas.microsoft.com/office/powerpoint/2010/main" val="1459387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fr-FR"/>
              <a:t>Modifiez le style du titre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256C2ED-54A4-480D-B5C8-65C0D62359B9}" type="datetime2">
              <a:rPr lang="en-US" smtClean="0"/>
              <a:pPr/>
              <a:t>Monday, March 30, 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r>
              <a:rPr lang="en-US" spc="200"/>
              <a:t>Sample Footer Text</a:t>
            </a:r>
            <a:endParaRPr lang="en-US" spc="200"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0D309695-DEC3-40DA-9DF5-330280C9D0E8}" type="slidenum">
              <a:rPr lang="en-US" smtClean="0"/>
              <a:pPr/>
              <a:t>‹N°›</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fr-FR"/>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fr-FR"/>
            </a:p>
          </p:txBody>
        </p:sp>
      </p:grpSp>
    </p:spTree>
    <p:extLst>
      <p:ext uri="{BB962C8B-B14F-4D97-AF65-F5344CB8AC3E}">
        <p14:creationId xmlns:p14="http://schemas.microsoft.com/office/powerpoint/2010/main" val="833887679"/>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256C2ED-54A4-480D-B5C8-65C0D62359B9}" type="datetime2">
              <a:rPr lang="en-US" smtClean="0"/>
              <a:pPr/>
              <a:t>Monday, March 30, 2026</a:t>
            </a:fld>
            <a:endParaRPr lang="en-US" dirty="0"/>
          </a:p>
        </p:txBody>
      </p:sp>
      <p:sp>
        <p:nvSpPr>
          <p:cNvPr id="5"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‹N°›</a:t>
            </a:fld>
            <a:endParaRPr lang="en-US" dirty="0"/>
          </a:p>
        </p:txBody>
      </p:sp>
    </p:spTree>
    <p:extLst>
      <p:ext uri="{BB962C8B-B14F-4D97-AF65-F5344CB8AC3E}">
        <p14:creationId xmlns:p14="http://schemas.microsoft.com/office/powerpoint/2010/main" val="196435804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256C2ED-54A4-480D-B5C8-65C0D62359B9}" type="datetime2">
              <a:rPr lang="en-US" smtClean="0"/>
              <a:pPr/>
              <a:t>Monday, March 30, 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r>
              <a:rPr lang="en-US" spc="200"/>
              <a:t>Sample Footer Text</a:t>
            </a:r>
            <a:endParaRPr lang="en-US" spc="200"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0D309695-DEC3-40DA-9DF5-330280C9D0E8}" type="slidenum">
              <a:rPr lang="en-US" smtClean="0"/>
              <a:pPr/>
              <a:t>‹N°›</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txBody>
          <a:bodyPr/>
          <a:lstStyle/>
          <a:p>
            <a:endParaRPr lang="fr-FR"/>
          </a:p>
        </p:txBody>
      </p:sp>
    </p:spTree>
    <p:extLst>
      <p:ext uri="{BB962C8B-B14F-4D97-AF65-F5344CB8AC3E}">
        <p14:creationId xmlns:p14="http://schemas.microsoft.com/office/powerpoint/2010/main" val="203427269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fr-FR"/>
              <a:t>Modifiez le style du titre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8256C2ED-54A4-480D-B5C8-65C0D62359B9}" type="datetime2">
              <a:rPr lang="en-US" smtClean="0"/>
              <a:pPr/>
              <a:t>Monday, March 30, 2026</a:t>
            </a:fld>
            <a:endParaRPr lang="en-US" dirty="0"/>
          </a:p>
        </p:txBody>
      </p:sp>
      <p:sp>
        <p:nvSpPr>
          <p:cNvPr id="6" name="Footer Placeholder 5"/>
          <p:cNvSpPr>
            <a:spLocks noGrp="1"/>
          </p:cNvSpPr>
          <p:nvPr>
            <p:ph type="ftr" sz="quarter" idx="11"/>
          </p:nvPr>
        </p:nvSpPr>
        <p:spPr/>
        <p:txBody>
          <a:bodyPr/>
          <a:lstStyle/>
          <a:p>
            <a:r>
              <a:rPr lang="en-US" spc="200"/>
              <a:t>Sample Footer Text</a:t>
            </a:r>
            <a:endParaRPr lang="en-US" spc="200" dirty="0"/>
          </a:p>
        </p:txBody>
      </p:sp>
      <p:sp>
        <p:nvSpPr>
          <p:cNvPr id="7" name="Slide Number Placeholder 6"/>
          <p:cNvSpPr>
            <a:spLocks noGrp="1"/>
          </p:cNvSpPr>
          <p:nvPr>
            <p:ph type="sldNum" sz="quarter" idx="12"/>
          </p:nvPr>
        </p:nvSpPr>
        <p:spPr/>
        <p:txBody>
          <a:bodyPr/>
          <a:lstStyle/>
          <a:p>
            <a:fld id="{0D309695-DEC3-40DA-9DF5-330280C9D0E8}" type="slidenum">
              <a:rPr lang="en-US" smtClean="0"/>
              <a:pPr/>
              <a:t>‹N°›</a:t>
            </a:fld>
            <a:endParaRPr lang="en-US" dirty="0"/>
          </a:p>
        </p:txBody>
      </p:sp>
    </p:spTree>
    <p:extLst>
      <p:ext uri="{BB962C8B-B14F-4D97-AF65-F5344CB8AC3E}">
        <p14:creationId xmlns:p14="http://schemas.microsoft.com/office/powerpoint/2010/main" val="277544894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8256C2ED-54A4-480D-B5C8-65C0D62359B9}" type="datetime2">
              <a:rPr lang="en-US" smtClean="0"/>
              <a:pPr/>
              <a:t>Monday, March 30, 2026</a:t>
            </a:fld>
            <a:endParaRPr lang="en-US" dirty="0"/>
          </a:p>
        </p:txBody>
      </p:sp>
      <p:sp>
        <p:nvSpPr>
          <p:cNvPr id="8" name="Footer Placeholder 7"/>
          <p:cNvSpPr>
            <a:spLocks noGrp="1"/>
          </p:cNvSpPr>
          <p:nvPr>
            <p:ph type="ftr" sz="quarter" idx="11"/>
          </p:nvPr>
        </p:nvSpPr>
        <p:spPr/>
        <p:txBody>
          <a:bodyPr/>
          <a:lstStyle/>
          <a:p>
            <a:r>
              <a:rPr lang="en-US" spc="200"/>
              <a:t>Sample Footer Text</a:t>
            </a:r>
            <a:endParaRPr lang="en-US" spc="200" dirty="0"/>
          </a:p>
        </p:txBody>
      </p:sp>
      <p:sp>
        <p:nvSpPr>
          <p:cNvPr id="9" name="Slide Number Placeholder 8"/>
          <p:cNvSpPr>
            <a:spLocks noGrp="1"/>
          </p:cNvSpPr>
          <p:nvPr>
            <p:ph type="sldNum" sz="quarter" idx="12"/>
          </p:nvPr>
        </p:nvSpPr>
        <p:spPr/>
        <p:txBody>
          <a:bodyPr/>
          <a:lstStyle/>
          <a:p>
            <a:fld id="{0D309695-DEC3-40DA-9DF5-330280C9D0E8}" type="slidenum">
              <a:rPr lang="en-US" smtClean="0"/>
              <a:pPr/>
              <a:t>‹N°›</a:t>
            </a:fld>
            <a:endParaRPr lang="en-US" dirty="0"/>
          </a:p>
        </p:txBody>
      </p:sp>
    </p:spTree>
    <p:extLst>
      <p:ext uri="{BB962C8B-B14F-4D97-AF65-F5344CB8AC3E}">
        <p14:creationId xmlns:p14="http://schemas.microsoft.com/office/powerpoint/2010/main" val="341206928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8256C2ED-54A4-480D-B5C8-65C0D62359B9}" type="datetime2">
              <a:rPr lang="en-US" smtClean="0"/>
              <a:pPr/>
              <a:t>Monday, March 30, 2026</a:t>
            </a:fld>
            <a:endParaRPr lang="en-US" dirty="0"/>
          </a:p>
        </p:txBody>
      </p:sp>
      <p:sp>
        <p:nvSpPr>
          <p:cNvPr id="4" name="Footer Placeholder 3"/>
          <p:cNvSpPr>
            <a:spLocks noGrp="1"/>
          </p:cNvSpPr>
          <p:nvPr>
            <p:ph type="ftr" sz="quarter" idx="11"/>
          </p:nvPr>
        </p:nvSpPr>
        <p:spPr/>
        <p:txBody>
          <a:bodyPr/>
          <a:lstStyle/>
          <a:p>
            <a:r>
              <a:rPr lang="en-US" spc="200"/>
              <a:t>Sample Footer Text</a:t>
            </a:r>
            <a:endParaRPr lang="en-US" spc="200" dirty="0"/>
          </a:p>
        </p:txBody>
      </p:sp>
      <p:sp>
        <p:nvSpPr>
          <p:cNvPr id="5" name="Slide Number Placeholder 4"/>
          <p:cNvSpPr>
            <a:spLocks noGrp="1"/>
          </p:cNvSpPr>
          <p:nvPr>
            <p:ph type="sldNum" sz="quarter" idx="12"/>
          </p:nvPr>
        </p:nvSpPr>
        <p:spPr/>
        <p:txBody>
          <a:bodyPr/>
          <a:lstStyle/>
          <a:p>
            <a:fld id="{0D309695-DEC3-40DA-9DF5-330280C9D0E8}" type="slidenum">
              <a:rPr lang="en-US" smtClean="0"/>
              <a:pPr/>
              <a:t>‹N°›</a:t>
            </a:fld>
            <a:endParaRPr lang="en-US" dirty="0"/>
          </a:p>
        </p:txBody>
      </p:sp>
    </p:spTree>
    <p:extLst>
      <p:ext uri="{BB962C8B-B14F-4D97-AF65-F5344CB8AC3E}">
        <p14:creationId xmlns:p14="http://schemas.microsoft.com/office/powerpoint/2010/main" val="84620441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56C2ED-54A4-480D-B5C8-65C0D62359B9}" type="datetime2">
              <a:rPr lang="en-US" smtClean="0"/>
              <a:pPr/>
              <a:t>Monday, March 30, 2026</a:t>
            </a:fld>
            <a:endParaRPr lang="en-US" dirty="0"/>
          </a:p>
        </p:txBody>
      </p:sp>
      <p:sp>
        <p:nvSpPr>
          <p:cNvPr id="3" name="Footer Placeholder 2"/>
          <p:cNvSpPr>
            <a:spLocks noGrp="1"/>
          </p:cNvSpPr>
          <p:nvPr>
            <p:ph type="ftr" sz="quarter" idx="11"/>
          </p:nvPr>
        </p:nvSpPr>
        <p:spPr/>
        <p:txBody>
          <a:bodyPr/>
          <a:lstStyle/>
          <a:p>
            <a:r>
              <a:rPr lang="en-US" spc="200"/>
              <a:t>Sample Footer Text</a:t>
            </a:r>
            <a:endParaRPr lang="en-US" spc="200" dirty="0"/>
          </a:p>
        </p:txBody>
      </p:sp>
      <p:sp>
        <p:nvSpPr>
          <p:cNvPr id="4" name="Slide Number Placeholder 3"/>
          <p:cNvSpPr>
            <a:spLocks noGrp="1"/>
          </p:cNvSpPr>
          <p:nvPr>
            <p:ph type="sldNum" sz="quarter" idx="12"/>
          </p:nvPr>
        </p:nvSpPr>
        <p:spPr/>
        <p:txBody>
          <a:bodyPr/>
          <a:lstStyle/>
          <a:p>
            <a:fld id="{0D309695-DEC3-40DA-9DF5-330280C9D0E8}" type="slidenum">
              <a:rPr lang="en-US" smtClean="0"/>
              <a:pPr/>
              <a:t>‹N°›</a:t>
            </a:fld>
            <a:endParaRPr lang="en-US" dirty="0"/>
          </a:p>
        </p:txBody>
      </p:sp>
    </p:spTree>
    <p:extLst>
      <p:ext uri="{BB962C8B-B14F-4D97-AF65-F5344CB8AC3E}">
        <p14:creationId xmlns:p14="http://schemas.microsoft.com/office/powerpoint/2010/main" val="123533909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fr-FR"/>
              <a:t>Modifiez le style du titre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256C2ED-54A4-480D-B5C8-65C0D62359B9}" type="datetime2">
              <a:rPr lang="en-US" smtClean="0"/>
              <a:pPr/>
              <a:t>Monday, March 30, 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spc="200"/>
              <a:t>Sample Footer Text</a:t>
            </a:r>
            <a:endParaRPr lang="en-US" spc="200"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D309695-DEC3-40DA-9DF5-330280C9D0E8}" type="slidenum">
              <a:rPr lang="en-US" smtClean="0"/>
              <a:pPr/>
              <a:t>‹N°›</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08021138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fr-FR"/>
              <a:t>Modifiez le style du titre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256C2ED-54A4-480D-B5C8-65C0D62359B9}" type="datetime2">
              <a:rPr lang="en-US" smtClean="0"/>
              <a:pPr/>
              <a:t>Monday, March 30, 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spc="200"/>
              <a:t>Sample Footer Text</a:t>
            </a:r>
            <a:endParaRPr lang="en-US" spc="200"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D309695-DEC3-40DA-9DF5-330280C9D0E8}" type="slidenum">
              <a:rPr lang="en-US" smtClean="0"/>
              <a:pPr/>
              <a:t>‹N°›</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42130084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256C2ED-54A4-480D-B5C8-65C0D62359B9}" type="datetime2">
              <a:rPr lang="en-US" smtClean="0"/>
              <a:pPr/>
              <a:t>Monday, March 30, 2026</a:t>
            </a:fld>
            <a:endParaRPr lang="en-US" dirty="0"/>
          </a:p>
        </p:txBody>
      </p:sp>
      <p:sp>
        <p:nvSpPr>
          <p:cNvPr id="5"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‹N°›</a:t>
            </a:fld>
            <a:endParaRPr lang="en-US" dirty="0"/>
          </a:p>
        </p:txBody>
      </p:sp>
    </p:spTree>
    <p:extLst>
      <p:ext uri="{BB962C8B-B14F-4D97-AF65-F5344CB8AC3E}">
        <p14:creationId xmlns:p14="http://schemas.microsoft.com/office/powerpoint/2010/main" val="53205630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256C2ED-54A4-480D-B5C8-65C0D62359B9}" type="datetime2">
              <a:rPr lang="en-US" smtClean="0"/>
              <a:pPr/>
              <a:t>Monday, March 30, 2026</a:t>
            </a:fld>
            <a:endParaRPr lang="en-US" dirty="0"/>
          </a:p>
        </p:txBody>
      </p:sp>
      <p:sp>
        <p:nvSpPr>
          <p:cNvPr id="5"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‹N°›</a:t>
            </a:fld>
            <a:endParaRPr lang="en-US" dirty="0"/>
          </a:p>
        </p:txBody>
      </p:sp>
    </p:spTree>
    <p:extLst>
      <p:ext uri="{BB962C8B-B14F-4D97-AF65-F5344CB8AC3E}">
        <p14:creationId xmlns:p14="http://schemas.microsoft.com/office/powerpoint/2010/main" val="338827366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256C2ED-54A4-480D-B5C8-65C0D62359B9}" type="datetime2">
              <a:rPr lang="en-US" smtClean="0"/>
              <a:pPr/>
              <a:t>Monday, March 30, 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r>
              <a:rPr lang="en-US" spc="200"/>
              <a:t>Sample Footer Text</a:t>
            </a:r>
            <a:endParaRPr lang="en-US" spc="200"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0D309695-DEC3-40DA-9DF5-330280C9D0E8}" type="slidenum">
              <a:rPr lang="en-US" smtClean="0"/>
              <a:pPr/>
              <a:t>‹N°›</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131491256"/>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E315DA-CBE6-2EDC-0266-3C5D42A7CDA7}"/>
              </a:ext>
            </a:extLst>
          </p:cNvPr>
          <p:cNvSpPr>
            <a:spLocks noGrp="1"/>
          </p:cNvSpPr>
          <p:nvPr>
            <p:ph type="ctrTitle"/>
          </p:nvPr>
        </p:nvSpPr>
        <p:spPr>
          <a:xfrm>
            <a:off x="3247524" y="2651542"/>
            <a:ext cx="5696952" cy="1554916"/>
          </a:xfrm>
        </p:spPr>
        <p:txBody>
          <a:bodyPr anchor="ctr">
            <a:normAutofit/>
          </a:bodyPr>
          <a:lstStyle/>
          <a:p>
            <a:r>
              <a:rPr lang="fr-FR" sz="2800" dirty="0" err="1"/>
              <a:t>Steady</a:t>
            </a:r>
            <a:r>
              <a:rPr lang="fr-FR" sz="2800" dirty="0"/>
              <a:t> states and Oscillations in the p53/mdm2 Network</a:t>
            </a:r>
            <a:br>
              <a:rPr lang="fr-FR" sz="2800" dirty="0"/>
            </a:br>
            <a:r>
              <a:rPr lang="fr-FR" sz="1200" cap="none" dirty="0"/>
              <a:t>Andrea </a:t>
            </a:r>
            <a:r>
              <a:rPr lang="fr-FR" sz="1200" cap="none" dirty="0" err="1"/>
              <a:t>Ciliberto</a:t>
            </a:r>
            <a:r>
              <a:rPr lang="fr-FR" sz="1200" cap="none" dirty="0"/>
              <a:t>, Béla Novak, John j. Tyson</a:t>
            </a:r>
            <a:endParaRPr lang="fr-FR" sz="2800" dirty="0"/>
          </a:p>
        </p:txBody>
      </p:sp>
      <p:sp>
        <p:nvSpPr>
          <p:cNvPr id="3" name="ZoneTexte 2">
            <a:extLst>
              <a:ext uri="{FF2B5EF4-FFF2-40B4-BE49-F238E27FC236}">
                <a16:creationId xmlns:a16="http://schemas.microsoft.com/office/drawing/2014/main" id="{444244A0-E788-2085-9FE8-1FEB0C4C68FD}"/>
              </a:ext>
            </a:extLst>
          </p:cNvPr>
          <p:cNvSpPr txBox="1"/>
          <p:nvPr/>
        </p:nvSpPr>
        <p:spPr>
          <a:xfrm>
            <a:off x="3275937" y="4397071"/>
            <a:ext cx="5693134" cy="338554"/>
          </a:xfrm>
          <a:prstGeom prst="rect">
            <a:avLst/>
          </a:prstGeom>
          <a:noFill/>
        </p:spPr>
        <p:txBody>
          <a:bodyPr wrap="square" rtlCol="0">
            <a:spAutoFit/>
          </a:bodyPr>
          <a:lstStyle/>
          <a:p>
            <a:r>
              <a:rPr lang="fr-FR" sz="1600" dirty="0"/>
              <a:t>Présenté par Nicolas Roux</a:t>
            </a:r>
          </a:p>
        </p:txBody>
      </p:sp>
    </p:spTree>
    <p:extLst>
      <p:ext uri="{BB962C8B-B14F-4D97-AF65-F5344CB8AC3E}">
        <p14:creationId xmlns:p14="http://schemas.microsoft.com/office/powerpoint/2010/main" val="2535614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AE40A371-CBDE-F2B8-E8AD-83FE87BA0BE0}"/>
              </a:ext>
            </a:extLst>
          </p:cNvPr>
          <p:cNvSpPr txBox="1"/>
          <p:nvPr/>
        </p:nvSpPr>
        <p:spPr>
          <a:xfrm>
            <a:off x="841248" y="173736"/>
            <a:ext cx="11058144" cy="584775"/>
          </a:xfrm>
          <a:prstGeom prst="rect">
            <a:avLst/>
          </a:prstGeom>
          <a:noFill/>
        </p:spPr>
        <p:txBody>
          <a:bodyPr wrap="square" rtlCol="0">
            <a:spAutoFit/>
          </a:bodyPr>
          <a:lstStyle/>
          <a:p>
            <a:r>
              <a:rPr lang="fr-FR" sz="3200" b="1" dirty="0"/>
              <a:t>THE P53-MDM2 NETWORK</a:t>
            </a:r>
          </a:p>
        </p:txBody>
      </p:sp>
      <p:sp>
        <p:nvSpPr>
          <p:cNvPr id="5" name="ZoneTexte 4">
            <a:extLst>
              <a:ext uri="{FF2B5EF4-FFF2-40B4-BE49-F238E27FC236}">
                <a16:creationId xmlns:a16="http://schemas.microsoft.com/office/drawing/2014/main" id="{F306925B-F141-6919-8E28-EC4D15EF449C}"/>
              </a:ext>
            </a:extLst>
          </p:cNvPr>
          <p:cNvSpPr txBox="1"/>
          <p:nvPr/>
        </p:nvSpPr>
        <p:spPr>
          <a:xfrm>
            <a:off x="963168" y="1207008"/>
            <a:ext cx="10582656" cy="2031325"/>
          </a:xfrm>
          <a:prstGeom prst="rect">
            <a:avLst/>
          </a:prstGeom>
          <a:noFill/>
        </p:spPr>
        <p:txBody>
          <a:bodyPr wrap="square" rtlCol="0">
            <a:spAutoFit/>
          </a:bodyPr>
          <a:lstStyle/>
          <a:p>
            <a:pPr marL="285750" indent="-285750">
              <a:buFont typeface="Arial" panose="020B0604020202020204" pitchFamily="34" charset="0"/>
              <a:buChar char="•"/>
            </a:pPr>
            <a:r>
              <a:rPr lang="fr-FR" dirty="0"/>
              <a:t>P53 est un facteur de transcription important pour maintenir l’intégrité du génome chez les cellules de Mammifères. Il active ainsi la transcription de gènes responsables de l’arrêt du cycle cellulaire et de l’apoptose. </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P53 active également la transcription de mdm2</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P53 est dégradé via ubiquitination : réaction catalysée par mdm2</a:t>
            </a:r>
          </a:p>
        </p:txBody>
      </p:sp>
    </p:spTree>
    <p:extLst>
      <p:ext uri="{BB962C8B-B14F-4D97-AF65-F5344CB8AC3E}">
        <p14:creationId xmlns:p14="http://schemas.microsoft.com/office/powerpoint/2010/main" val="1308918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0CDB5-EB0F-E548-A39E-D65E6DABCEC1}"/>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A00CA793-3FF4-4FD5-3E6D-EF60047DB088}"/>
              </a:ext>
            </a:extLst>
          </p:cNvPr>
          <p:cNvSpPr txBox="1"/>
          <p:nvPr/>
        </p:nvSpPr>
        <p:spPr>
          <a:xfrm>
            <a:off x="841248" y="173736"/>
            <a:ext cx="11058144" cy="584775"/>
          </a:xfrm>
          <a:prstGeom prst="rect">
            <a:avLst/>
          </a:prstGeom>
          <a:noFill/>
        </p:spPr>
        <p:txBody>
          <a:bodyPr wrap="square" rtlCol="0">
            <a:spAutoFit/>
          </a:bodyPr>
          <a:lstStyle/>
          <a:p>
            <a:r>
              <a:rPr lang="fr-FR" sz="3200" b="1" dirty="0"/>
              <a:t>THE P53-MDM2 NETWORK</a:t>
            </a:r>
          </a:p>
        </p:txBody>
      </p:sp>
      <p:sp>
        <p:nvSpPr>
          <p:cNvPr id="5" name="ZoneTexte 4">
            <a:extLst>
              <a:ext uri="{FF2B5EF4-FFF2-40B4-BE49-F238E27FC236}">
                <a16:creationId xmlns:a16="http://schemas.microsoft.com/office/drawing/2014/main" id="{E70D8782-6D7B-1412-9334-0DF36E4CB044}"/>
              </a:ext>
            </a:extLst>
          </p:cNvPr>
          <p:cNvSpPr txBox="1"/>
          <p:nvPr/>
        </p:nvSpPr>
        <p:spPr>
          <a:xfrm>
            <a:off x="963168" y="1207008"/>
            <a:ext cx="10582656" cy="2031325"/>
          </a:xfrm>
          <a:prstGeom prst="rect">
            <a:avLst/>
          </a:prstGeom>
          <a:noFill/>
        </p:spPr>
        <p:txBody>
          <a:bodyPr wrap="square" rtlCol="0">
            <a:spAutoFit/>
          </a:bodyPr>
          <a:lstStyle/>
          <a:p>
            <a:pPr marL="285750" indent="-285750">
              <a:buFont typeface="Arial" panose="020B0604020202020204" pitchFamily="34" charset="0"/>
              <a:buChar char="•"/>
            </a:pPr>
            <a:r>
              <a:rPr lang="fr-FR" dirty="0"/>
              <a:t>P53 est un facteur de transcription important pour maintenir l’intégrité du génome chez les cellules de Mammifères. Il active ainsi la transcription de gènes responsables de l’arrêt du cycle cellulaire et de l’apoptose. </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P53 active également la transcription de mdm2</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P53 est dégradé via ubiquitination : réaction catalysée par mdm2</a:t>
            </a:r>
          </a:p>
        </p:txBody>
      </p:sp>
      <p:sp>
        <p:nvSpPr>
          <p:cNvPr id="2" name="ZoneTexte 1">
            <a:extLst>
              <a:ext uri="{FF2B5EF4-FFF2-40B4-BE49-F238E27FC236}">
                <a16:creationId xmlns:a16="http://schemas.microsoft.com/office/drawing/2014/main" id="{11039B06-D485-2DD5-C087-B2743F8F2F3C}"/>
              </a:ext>
            </a:extLst>
          </p:cNvPr>
          <p:cNvSpPr txBox="1"/>
          <p:nvPr/>
        </p:nvSpPr>
        <p:spPr>
          <a:xfrm>
            <a:off x="1219521" y="3429000"/>
            <a:ext cx="10448544" cy="646331"/>
          </a:xfrm>
          <a:prstGeom prst="rect">
            <a:avLst/>
          </a:prstGeom>
          <a:noFill/>
        </p:spPr>
        <p:txBody>
          <a:bodyPr wrap="square" rtlCol="0">
            <a:spAutoFit/>
          </a:bodyPr>
          <a:lstStyle/>
          <a:p>
            <a:r>
              <a:rPr lang="fr-FR" b="1" dirty="0"/>
              <a:t>Cela résulte en une boucle de rétroaction négative qui maintient de manière stable la concentration de p53 à un niveau faible</a:t>
            </a:r>
          </a:p>
        </p:txBody>
      </p:sp>
      <p:sp>
        <p:nvSpPr>
          <p:cNvPr id="11" name="Ellipse 10">
            <a:extLst>
              <a:ext uri="{FF2B5EF4-FFF2-40B4-BE49-F238E27FC236}">
                <a16:creationId xmlns:a16="http://schemas.microsoft.com/office/drawing/2014/main" id="{98FEBC41-FF9E-4373-356E-9F89B5ABBD04}"/>
              </a:ext>
            </a:extLst>
          </p:cNvPr>
          <p:cNvSpPr/>
          <p:nvPr/>
        </p:nvSpPr>
        <p:spPr>
          <a:xfrm>
            <a:off x="2316480" y="4632960"/>
            <a:ext cx="1365504" cy="6463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P53</a:t>
            </a:r>
          </a:p>
        </p:txBody>
      </p:sp>
      <p:sp>
        <p:nvSpPr>
          <p:cNvPr id="12" name="Ellipse 11">
            <a:extLst>
              <a:ext uri="{FF2B5EF4-FFF2-40B4-BE49-F238E27FC236}">
                <a16:creationId xmlns:a16="http://schemas.microsoft.com/office/drawing/2014/main" id="{F8014818-ABDB-006F-955B-7733B49338FC}"/>
              </a:ext>
            </a:extLst>
          </p:cNvPr>
          <p:cNvSpPr/>
          <p:nvPr/>
        </p:nvSpPr>
        <p:spPr>
          <a:xfrm>
            <a:off x="8223504" y="4632960"/>
            <a:ext cx="1365504" cy="6463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P53</a:t>
            </a:r>
          </a:p>
        </p:txBody>
      </p:sp>
      <p:sp>
        <p:nvSpPr>
          <p:cNvPr id="13" name="Rectangle : coins arrondis 12">
            <a:extLst>
              <a:ext uri="{FF2B5EF4-FFF2-40B4-BE49-F238E27FC236}">
                <a16:creationId xmlns:a16="http://schemas.microsoft.com/office/drawing/2014/main" id="{0B7E0F27-4EC0-09F6-539D-DED8F05292D7}"/>
              </a:ext>
            </a:extLst>
          </p:cNvPr>
          <p:cNvSpPr/>
          <p:nvPr/>
        </p:nvSpPr>
        <p:spPr>
          <a:xfrm>
            <a:off x="5462016" y="4632959"/>
            <a:ext cx="1207008"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MDM2</a:t>
            </a:r>
          </a:p>
        </p:txBody>
      </p:sp>
      <p:sp>
        <p:nvSpPr>
          <p:cNvPr id="14" name="Flèche : droite 13">
            <a:extLst>
              <a:ext uri="{FF2B5EF4-FFF2-40B4-BE49-F238E27FC236}">
                <a16:creationId xmlns:a16="http://schemas.microsoft.com/office/drawing/2014/main" id="{0B78EA23-9B66-06C5-414F-ADBAD6D9E713}"/>
              </a:ext>
            </a:extLst>
          </p:cNvPr>
          <p:cNvSpPr/>
          <p:nvPr/>
        </p:nvSpPr>
        <p:spPr>
          <a:xfrm>
            <a:off x="3992880" y="4767148"/>
            <a:ext cx="1158240" cy="37795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7" name="Groupe 16">
            <a:extLst>
              <a:ext uri="{FF2B5EF4-FFF2-40B4-BE49-F238E27FC236}">
                <a16:creationId xmlns:a16="http://schemas.microsoft.com/office/drawing/2014/main" id="{1642127D-9DC0-9135-EDD3-B8B6732C3735}"/>
              </a:ext>
            </a:extLst>
          </p:cNvPr>
          <p:cNvGrpSpPr/>
          <p:nvPr/>
        </p:nvGrpSpPr>
        <p:grpSpPr>
          <a:xfrm>
            <a:off x="6979920" y="4632958"/>
            <a:ext cx="981456" cy="646331"/>
            <a:chOff x="6937248" y="4632959"/>
            <a:chExt cx="981456" cy="646331"/>
          </a:xfrm>
        </p:grpSpPr>
        <p:sp>
          <p:nvSpPr>
            <p:cNvPr id="15" name="Rectangle 14">
              <a:extLst>
                <a:ext uri="{FF2B5EF4-FFF2-40B4-BE49-F238E27FC236}">
                  <a16:creationId xmlns:a16="http://schemas.microsoft.com/office/drawing/2014/main" id="{67149253-BE59-7094-9F02-6E74BBAE58EC}"/>
                </a:ext>
              </a:extLst>
            </p:cNvPr>
            <p:cNvSpPr/>
            <p:nvPr/>
          </p:nvSpPr>
          <p:spPr>
            <a:xfrm>
              <a:off x="6937248" y="4852785"/>
              <a:ext cx="853440" cy="2066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7E74309D-F90B-02C9-9E46-B7DEF055FB35}"/>
                </a:ext>
              </a:extLst>
            </p:cNvPr>
            <p:cNvSpPr/>
            <p:nvPr/>
          </p:nvSpPr>
          <p:spPr>
            <a:xfrm>
              <a:off x="7754112" y="4632959"/>
              <a:ext cx="164592" cy="6463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Tree>
    <p:extLst>
      <p:ext uri="{BB962C8B-B14F-4D97-AF65-F5344CB8AC3E}">
        <p14:creationId xmlns:p14="http://schemas.microsoft.com/office/powerpoint/2010/main" val="1849258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DE7DF75B-E72B-017C-C231-62FFFACA752A}"/>
              </a:ext>
            </a:extLst>
          </p:cNvPr>
          <p:cNvSpPr txBox="1"/>
          <p:nvPr/>
        </p:nvSpPr>
        <p:spPr>
          <a:xfrm>
            <a:off x="938784" y="195072"/>
            <a:ext cx="10741152" cy="646331"/>
          </a:xfrm>
          <a:prstGeom prst="rect">
            <a:avLst/>
          </a:prstGeom>
          <a:noFill/>
        </p:spPr>
        <p:txBody>
          <a:bodyPr wrap="square" rtlCol="0">
            <a:spAutoFit/>
          </a:bodyPr>
          <a:lstStyle/>
          <a:p>
            <a:r>
              <a:rPr lang="fr-FR" sz="3600" b="1" dirty="0"/>
              <a:t>Dynamique de la boucle de rétroaction p53-Mdm2</a:t>
            </a:r>
          </a:p>
        </p:txBody>
      </p:sp>
      <p:pic>
        <p:nvPicPr>
          <p:cNvPr id="4" name="Image 3">
            <a:extLst>
              <a:ext uri="{FF2B5EF4-FFF2-40B4-BE49-F238E27FC236}">
                <a16:creationId xmlns:a16="http://schemas.microsoft.com/office/drawing/2014/main" id="{B7186B9B-25F3-59D2-DD51-9F9ED1BA6DC1}"/>
              </a:ext>
            </a:extLst>
          </p:cNvPr>
          <p:cNvPicPr>
            <a:picLocks noChangeAspect="1"/>
          </p:cNvPicPr>
          <p:nvPr/>
        </p:nvPicPr>
        <p:blipFill>
          <a:blip r:embed="rId2"/>
          <a:stretch>
            <a:fillRect/>
          </a:stretch>
        </p:blipFill>
        <p:spPr>
          <a:xfrm>
            <a:off x="4647758" y="1771497"/>
            <a:ext cx="3323204" cy="2503010"/>
          </a:xfrm>
          <a:prstGeom prst="rect">
            <a:avLst/>
          </a:prstGeom>
        </p:spPr>
      </p:pic>
      <p:sp>
        <p:nvSpPr>
          <p:cNvPr id="7" name="ZoneTexte 6">
            <a:extLst>
              <a:ext uri="{FF2B5EF4-FFF2-40B4-BE49-F238E27FC236}">
                <a16:creationId xmlns:a16="http://schemas.microsoft.com/office/drawing/2014/main" id="{5A78DC00-B524-6D4D-C1B7-AF8A640A5F3E}"/>
              </a:ext>
            </a:extLst>
          </p:cNvPr>
          <p:cNvSpPr txBox="1"/>
          <p:nvPr/>
        </p:nvSpPr>
        <p:spPr>
          <a:xfrm>
            <a:off x="1847088" y="4974336"/>
            <a:ext cx="8924544" cy="1692771"/>
          </a:xfrm>
          <a:prstGeom prst="rect">
            <a:avLst/>
          </a:prstGeom>
          <a:noFill/>
        </p:spPr>
        <p:txBody>
          <a:bodyPr wrap="square" rtlCol="0">
            <a:spAutoFit/>
          </a:bodyPr>
          <a:lstStyle/>
          <a:p>
            <a:pPr algn="ctr"/>
            <a:r>
              <a:rPr lang="fr-FR" sz="2000" dirty="0"/>
              <a:t>Une étude à montré que la concentration de  Mdm2 et de p53 se mettaient à osciller lorsque les cellules étaient soumises à des irradiations gamma pendant plusieurs minutes.</a:t>
            </a:r>
          </a:p>
          <a:p>
            <a:pPr algn="ctr"/>
            <a:endParaRPr lang="fr-FR" sz="2000" dirty="0"/>
          </a:p>
          <a:p>
            <a:pPr algn="ctr"/>
            <a:r>
              <a:rPr lang="fr-FR" sz="1200" dirty="0" err="1"/>
              <a:t>Lahav</a:t>
            </a:r>
            <a:r>
              <a:rPr lang="fr-FR" sz="1200" dirty="0"/>
              <a:t> G, Rosenfeld N, </a:t>
            </a:r>
            <a:r>
              <a:rPr lang="fr-FR" sz="1200" dirty="0" err="1"/>
              <a:t>Sigal</a:t>
            </a:r>
            <a:r>
              <a:rPr lang="fr-FR" sz="1200" dirty="0"/>
              <a:t> A, </a:t>
            </a:r>
            <a:r>
              <a:rPr lang="fr-FR" sz="1200" dirty="0" err="1"/>
              <a:t>Geva-Zatorsky</a:t>
            </a:r>
            <a:r>
              <a:rPr lang="fr-FR" sz="1200" dirty="0"/>
              <a:t> N, Levine AJ, </a:t>
            </a:r>
            <a:r>
              <a:rPr lang="fr-FR" sz="1200" dirty="0" err="1"/>
              <a:t>Elowitz</a:t>
            </a:r>
            <a:r>
              <a:rPr lang="fr-FR" sz="1200" dirty="0"/>
              <a:t> MB, </a:t>
            </a:r>
            <a:r>
              <a:rPr lang="fr-FR" sz="1200" dirty="0" err="1"/>
              <a:t>Alon</a:t>
            </a:r>
            <a:r>
              <a:rPr lang="fr-FR" sz="1200" dirty="0"/>
              <a:t> U. Dynamics of the p53-Mdm2 feedback </a:t>
            </a:r>
            <a:r>
              <a:rPr lang="fr-FR" sz="1200" dirty="0" err="1"/>
              <a:t>loop</a:t>
            </a:r>
            <a:r>
              <a:rPr lang="fr-FR" sz="1200" dirty="0"/>
              <a:t> in </a:t>
            </a:r>
            <a:r>
              <a:rPr lang="fr-FR" sz="1200" dirty="0" err="1"/>
              <a:t>individual</a:t>
            </a:r>
            <a:r>
              <a:rPr lang="fr-FR" sz="1200" dirty="0"/>
              <a:t> </a:t>
            </a:r>
            <a:r>
              <a:rPr lang="fr-FR" sz="1200" dirty="0" err="1"/>
              <a:t>cells</a:t>
            </a:r>
            <a:r>
              <a:rPr lang="fr-FR" sz="1200" dirty="0"/>
              <a:t>. Nature </a:t>
            </a:r>
            <a:r>
              <a:rPr lang="fr-FR" sz="1200" dirty="0" err="1"/>
              <a:t>Genetics</a:t>
            </a:r>
            <a:r>
              <a:rPr lang="fr-FR" sz="1200" dirty="0"/>
              <a:t> 2004 36:147-50.</a:t>
            </a:r>
          </a:p>
        </p:txBody>
      </p:sp>
    </p:spTree>
    <p:extLst>
      <p:ext uri="{BB962C8B-B14F-4D97-AF65-F5344CB8AC3E}">
        <p14:creationId xmlns:p14="http://schemas.microsoft.com/office/powerpoint/2010/main" val="1429572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4C5F7-E389-4EFC-2F38-E0FCF6CC9DBE}"/>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F43E8B6E-9451-163E-1BBB-FF889BA88221}"/>
              </a:ext>
            </a:extLst>
          </p:cNvPr>
          <p:cNvSpPr txBox="1"/>
          <p:nvPr/>
        </p:nvSpPr>
        <p:spPr>
          <a:xfrm>
            <a:off x="938784" y="195072"/>
            <a:ext cx="10741152" cy="646331"/>
          </a:xfrm>
          <a:prstGeom prst="rect">
            <a:avLst/>
          </a:prstGeom>
          <a:noFill/>
        </p:spPr>
        <p:txBody>
          <a:bodyPr wrap="square" rtlCol="0">
            <a:spAutoFit/>
          </a:bodyPr>
          <a:lstStyle/>
          <a:p>
            <a:r>
              <a:rPr lang="fr-FR" sz="3600" b="1" dirty="0"/>
              <a:t>Dynamique de la boucle de rétroaction p53-Mdm2</a:t>
            </a:r>
          </a:p>
        </p:txBody>
      </p:sp>
      <p:pic>
        <p:nvPicPr>
          <p:cNvPr id="6" name="Image 5">
            <a:extLst>
              <a:ext uri="{FF2B5EF4-FFF2-40B4-BE49-F238E27FC236}">
                <a16:creationId xmlns:a16="http://schemas.microsoft.com/office/drawing/2014/main" id="{FD079646-A0D8-A974-2B1C-FF234E2ED79D}"/>
              </a:ext>
            </a:extLst>
          </p:cNvPr>
          <p:cNvPicPr>
            <a:picLocks noChangeAspect="1"/>
          </p:cNvPicPr>
          <p:nvPr/>
        </p:nvPicPr>
        <p:blipFill>
          <a:blip r:embed="rId2"/>
          <a:stretch>
            <a:fillRect/>
          </a:stretch>
        </p:blipFill>
        <p:spPr>
          <a:xfrm>
            <a:off x="1703379" y="2473861"/>
            <a:ext cx="9211961" cy="3696216"/>
          </a:xfrm>
          <a:prstGeom prst="rect">
            <a:avLst/>
          </a:prstGeom>
        </p:spPr>
      </p:pic>
      <p:sp>
        <p:nvSpPr>
          <p:cNvPr id="8" name="ZoneTexte 7">
            <a:extLst>
              <a:ext uri="{FF2B5EF4-FFF2-40B4-BE49-F238E27FC236}">
                <a16:creationId xmlns:a16="http://schemas.microsoft.com/office/drawing/2014/main" id="{E8333987-2B0A-DCDD-12B1-1905C84F1444}"/>
              </a:ext>
            </a:extLst>
          </p:cNvPr>
          <p:cNvSpPr txBox="1"/>
          <p:nvPr/>
        </p:nvSpPr>
        <p:spPr>
          <a:xfrm>
            <a:off x="1440893" y="1334466"/>
            <a:ext cx="9736931" cy="646331"/>
          </a:xfrm>
          <a:prstGeom prst="rect">
            <a:avLst/>
          </a:prstGeom>
          <a:noFill/>
        </p:spPr>
        <p:txBody>
          <a:bodyPr wrap="square" rtlCol="0">
            <a:spAutoFit/>
          </a:bodyPr>
          <a:lstStyle/>
          <a:p>
            <a:r>
              <a:rPr lang="fr-FR" dirty="0"/>
              <a:t>L’intensité du signal fait varier le nombre d’oscillations tandis que la période et l’amplitude des oscillations restent constantes</a:t>
            </a:r>
          </a:p>
        </p:txBody>
      </p:sp>
      <p:sp>
        <p:nvSpPr>
          <p:cNvPr id="3" name="ZoneTexte 2">
            <a:extLst>
              <a:ext uri="{FF2B5EF4-FFF2-40B4-BE49-F238E27FC236}">
                <a16:creationId xmlns:a16="http://schemas.microsoft.com/office/drawing/2014/main" id="{D2C55B7C-1C71-20BB-5BD4-D497E2BE0538}"/>
              </a:ext>
            </a:extLst>
          </p:cNvPr>
          <p:cNvSpPr txBox="1"/>
          <p:nvPr/>
        </p:nvSpPr>
        <p:spPr>
          <a:xfrm>
            <a:off x="1311965" y="6289482"/>
            <a:ext cx="10034546" cy="253916"/>
          </a:xfrm>
          <a:prstGeom prst="rect">
            <a:avLst/>
          </a:prstGeom>
          <a:noFill/>
        </p:spPr>
        <p:txBody>
          <a:bodyPr wrap="square" rtlCol="0">
            <a:spAutoFit/>
          </a:bodyPr>
          <a:lstStyle/>
          <a:p>
            <a:pPr algn="ctr"/>
            <a:r>
              <a:rPr lang="fr-FR" sz="1050" dirty="0" err="1"/>
              <a:t>Lahav</a:t>
            </a:r>
            <a:r>
              <a:rPr lang="fr-FR" sz="1050" dirty="0"/>
              <a:t> G, Rosenfeld N, </a:t>
            </a:r>
            <a:r>
              <a:rPr lang="fr-FR" sz="1050" dirty="0" err="1"/>
              <a:t>Sigal</a:t>
            </a:r>
            <a:r>
              <a:rPr lang="fr-FR" sz="1050" dirty="0"/>
              <a:t> A, </a:t>
            </a:r>
            <a:r>
              <a:rPr lang="fr-FR" sz="1050" dirty="0" err="1"/>
              <a:t>Geva-Zatorsky</a:t>
            </a:r>
            <a:r>
              <a:rPr lang="fr-FR" sz="1050" dirty="0"/>
              <a:t> N, Levine AJ, </a:t>
            </a:r>
            <a:r>
              <a:rPr lang="fr-FR" sz="1050" dirty="0" err="1"/>
              <a:t>Elowitz</a:t>
            </a:r>
            <a:r>
              <a:rPr lang="fr-FR" sz="1050" dirty="0"/>
              <a:t> MB, </a:t>
            </a:r>
            <a:r>
              <a:rPr lang="fr-FR" sz="1050" dirty="0" err="1"/>
              <a:t>Alon</a:t>
            </a:r>
            <a:r>
              <a:rPr lang="fr-FR" sz="1050" dirty="0"/>
              <a:t> U. Dynamics of the p53-Mdm2 feedback </a:t>
            </a:r>
            <a:r>
              <a:rPr lang="fr-FR" sz="1050" dirty="0" err="1"/>
              <a:t>loop</a:t>
            </a:r>
            <a:r>
              <a:rPr lang="fr-FR" sz="1050" dirty="0"/>
              <a:t> in </a:t>
            </a:r>
            <a:r>
              <a:rPr lang="fr-FR" sz="1050" dirty="0" err="1"/>
              <a:t>individual</a:t>
            </a:r>
            <a:r>
              <a:rPr lang="fr-FR" sz="1050" dirty="0"/>
              <a:t> </a:t>
            </a:r>
            <a:r>
              <a:rPr lang="fr-FR" sz="1050" dirty="0" err="1"/>
              <a:t>cells</a:t>
            </a:r>
            <a:r>
              <a:rPr lang="fr-FR" sz="1050" dirty="0"/>
              <a:t>. Nature </a:t>
            </a:r>
            <a:r>
              <a:rPr lang="fr-FR" sz="1050" dirty="0" err="1"/>
              <a:t>Genetics</a:t>
            </a:r>
            <a:r>
              <a:rPr lang="fr-FR" sz="1050" dirty="0"/>
              <a:t> 2004; 36:147-50.</a:t>
            </a:r>
          </a:p>
        </p:txBody>
      </p:sp>
    </p:spTree>
    <p:extLst>
      <p:ext uri="{BB962C8B-B14F-4D97-AF65-F5344CB8AC3E}">
        <p14:creationId xmlns:p14="http://schemas.microsoft.com/office/powerpoint/2010/main" val="1333535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422C223-E91A-AE5D-46D9-4276BC6CB2ED}"/>
              </a:ext>
            </a:extLst>
          </p:cNvPr>
          <p:cNvSpPr txBox="1"/>
          <p:nvPr/>
        </p:nvSpPr>
        <p:spPr>
          <a:xfrm>
            <a:off x="1036320" y="268224"/>
            <a:ext cx="10497312" cy="646331"/>
          </a:xfrm>
          <a:prstGeom prst="rect">
            <a:avLst/>
          </a:prstGeom>
          <a:noFill/>
        </p:spPr>
        <p:txBody>
          <a:bodyPr wrap="square" rtlCol="0">
            <a:spAutoFit/>
          </a:bodyPr>
          <a:lstStyle/>
          <a:p>
            <a:r>
              <a:rPr lang="fr-FR" sz="3600" b="1" dirty="0"/>
              <a:t>Construction du modèle</a:t>
            </a:r>
          </a:p>
        </p:txBody>
      </p:sp>
      <p:pic>
        <p:nvPicPr>
          <p:cNvPr id="4" name="Image 3">
            <a:extLst>
              <a:ext uri="{FF2B5EF4-FFF2-40B4-BE49-F238E27FC236}">
                <a16:creationId xmlns:a16="http://schemas.microsoft.com/office/drawing/2014/main" id="{1E16EE25-ACA5-D169-0A5F-BA485C70C688}"/>
              </a:ext>
            </a:extLst>
          </p:cNvPr>
          <p:cNvPicPr>
            <a:picLocks noChangeAspect="1"/>
          </p:cNvPicPr>
          <p:nvPr/>
        </p:nvPicPr>
        <p:blipFill>
          <a:blip r:embed="rId3"/>
          <a:stretch>
            <a:fillRect/>
          </a:stretch>
        </p:blipFill>
        <p:spPr>
          <a:xfrm>
            <a:off x="1125143" y="2435850"/>
            <a:ext cx="5134692" cy="3486637"/>
          </a:xfrm>
          <a:prstGeom prst="rect">
            <a:avLst/>
          </a:prstGeom>
        </p:spPr>
      </p:pic>
      <p:sp>
        <p:nvSpPr>
          <p:cNvPr id="5" name="ZoneTexte 4">
            <a:extLst>
              <a:ext uri="{FF2B5EF4-FFF2-40B4-BE49-F238E27FC236}">
                <a16:creationId xmlns:a16="http://schemas.microsoft.com/office/drawing/2014/main" id="{13835A86-10C1-866C-F1CC-5922644F05A3}"/>
              </a:ext>
            </a:extLst>
          </p:cNvPr>
          <p:cNvSpPr txBox="1"/>
          <p:nvPr/>
        </p:nvSpPr>
        <p:spPr>
          <a:xfrm>
            <a:off x="1125143" y="1174483"/>
            <a:ext cx="10319666" cy="646331"/>
          </a:xfrm>
          <a:prstGeom prst="rect">
            <a:avLst/>
          </a:prstGeom>
          <a:noFill/>
        </p:spPr>
        <p:txBody>
          <a:bodyPr wrap="square" rtlCol="0">
            <a:spAutoFit/>
          </a:bodyPr>
          <a:lstStyle/>
          <a:p>
            <a:r>
              <a:rPr lang="fr-FR" dirty="0"/>
              <a:t>Hypothèse d’un système digital : la dynamique des oscillations dans le réseau p53-Mdm2 émerge d’une combinaison entre une boucle de rétroaction négative et positive.</a:t>
            </a:r>
          </a:p>
        </p:txBody>
      </p:sp>
      <p:sp>
        <p:nvSpPr>
          <p:cNvPr id="6" name="ZoneTexte 5">
            <a:extLst>
              <a:ext uri="{FF2B5EF4-FFF2-40B4-BE49-F238E27FC236}">
                <a16:creationId xmlns:a16="http://schemas.microsoft.com/office/drawing/2014/main" id="{5D9D6977-3F99-6956-A49C-406063C0F549}"/>
              </a:ext>
            </a:extLst>
          </p:cNvPr>
          <p:cNvSpPr txBox="1"/>
          <p:nvPr/>
        </p:nvSpPr>
        <p:spPr>
          <a:xfrm>
            <a:off x="6637051" y="2170240"/>
            <a:ext cx="5007006" cy="4247317"/>
          </a:xfrm>
          <a:prstGeom prst="rect">
            <a:avLst/>
          </a:prstGeom>
          <a:noFill/>
        </p:spPr>
        <p:txBody>
          <a:bodyPr wrap="square" rtlCol="0">
            <a:spAutoFit/>
          </a:bodyPr>
          <a:lstStyle/>
          <a:p>
            <a:pPr marL="342900" indent="-342900">
              <a:buFont typeface="+mj-lt"/>
              <a:buAutoNum type="arabicPeriod"/>
            </a:pPr>
            <a:r>
              <a:rPr lang="fr-FR" dirty="0"/>
              <a:t>Mdm2 catalyse toutes les étapes d’ubiquitinations de p53 même si d’autres enzymes peuvent être plus efficaces</a:t>
            </a:r>
          </a:p>
          <a:p>
            <a:pPr marL="342900" indent="-342900">
              <a:buFont typeface="+mj-lt"/>
              <a:buAutoNum type="arabicPeriod"/>
            </a:pPr>
            <a:r>
              <a:rPr lang="fr-FR" dirty="0"/>
              <a:t>P53 est ubiquitiné deux fois et la forme p53UU est dégradé plus rapidement que les 2 autres formes</a:t>
            </a:r>
          </a:p>
          <a:p>
            <a:pPr marL="342900" indent="-342900">
              <a:buFont typeface="+mj-lt"/>
              <a:buAutoNum type="arabicPeriod"/>
            </a:pPr>
            <a:r>
              <a:rPr lang="fr-FR" dirty="0"/>
              <a:t>Les trois formes de p53 induisent la transcription de Mdm2 avec la même efficacité</a:t>
            </a:r>
          </a:p>
          <a:p>
            <a:pPr marL="342900" indent="-342900">
              <a:buFont typeface="+mj-lt"/>
              <a:buAutoNum type="arabicPeriod"/>
            </a:pPr>
            <a:r>
              <a:rPr lang="fr-FR" dirty="0"/>
              <a:t>P53 inhibe la phosphorylation de mdm2 cytoplasmique</a:t>
            </a:r>
          </a:p>
          <a:p>
            <a:pPr marL="342900" indent="-342900">
              <a:buFont typeface="+mj-lt"/>
              <a:buAutoNum type="arabicPeriod"/>
            </a:pPr>
            <a:r>
              <a:rPr lang="fr-FR" dirty="0"/>
              <a:t>L’ADN endommagé est introduit comme une variable dont la dégradation suit une cinétique de Michaelis Menten et décroit proportionnellement avec l’activité de p53</a:t>
            </a:r>
          </a:p>
        </p:txBody>
      </p:sp>
    </p:spTree>
    <p:extLst>
      <p:ext uri="{BB962C8B-B14F-4D97-AF65-F5344CB8AC3E}">
        <p14:creationId xmlns:p14="http://schemas.microsoft.com/office/powerpoint/2010/main" val="188198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4B449-8F76-89D2-E310-618CA467A9CA}"/>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9E5827E3-4F1A-4A06-62CA-30DF456D8D42}"/>
              </a:ext>
            </a:extLst>
          </p:cNvPr>
          <p:cNvSpPr txBox="1"/>
          <p:nvPr/>
        </p:nvSpPr>
        <p:spPr>
          <a:xfrm>
            <a:off x="1036320" y="268224"/>
            <a:ext cx="10497312" cy="646331"/>
          </a:xfrm>
          <a:prstGeom prst="rect">
            <a:avLst/>
          </a:prstGeom>
          <a:noFill/>
        </p:spPr>
        <p:txBody>
          <a:bodyPr wrap="square" rtlCol="0">
            <a:spAutoFit/>
          </a:bodyPr>
          <a:lstStyle/>
          <a:p>
            <a:r>
              <a:rPr lang="fr-FR" sz="3600" b="1" dirty="0"/>
              <a:t>Construction du modèle</a:t>
            </a:r>
          </a:p>
        </p:txBody>
      </p:sp>
      <p:pic>
        <p:nvPicPr>
          <p:cNvPr id="4" name="Image 3">
            <a:extLst>
              <a:ext uri="{FF2B5EF4-FFF2-40B4-BE49-F238E27FC236}">
                <a16:creationId xmlns:a16="http://schemas.microsoft.com/office/drawing/2014/main" id="{7423C829-9595-43E9-79D2-88101892A6CB}"/>
              </a:ext>
            </a:extLst>
          </p:cNvPr>
          <p:cNvPicPr>
            <a:picLocks noChangeAspect="1"/>
          </p:cNvPicPr>
          <p:nvPr/>
        </p:nvPicPr>
        <p:blipFill>
          <a:blip r:embed="rId3"/>
          <a:stretch>
            <a:fillRect/>
          </a:stretch>
        </p:blipFill>
        <p:spPr>
          <a:xfrm>
            <a:off x="1125143" y="2435850"/>
            <a:ext cx="5134692" cy="3486637"/>
          </a:xfrm>
          <a:prstGeom prst="rect">
            <a:avLst/>
          </a:prstGeom>
        </p:spPr>
      </p:pic>
      <p:sp>
        <p:nvSpPr>
          <p:cNvPr id="5" name="ZoneTexte 4">
            <a:extLst>
              <a:ext uri="{FF2B5EF4-FFF2-40B4-BE49-F238E27FC236}">
                <a16:creationId xmlns:a16="http://schemas.microsoft.com/office/drawing/2014/main" id="{312778CB-6475-26ED-A051-988DB10AF68D}"/>
              </a:ext>
            </a:extLst>
          </p:cNvPr>
          <p:cNvSpPr txBox="1"/>
          <p:nvPr/>
        </p:nvSpPr>
        <p:spPr>
          <a:xfrm>
            <a:off x="1125143" y="1174483"/>
            <a:ext cx="10319666" cy="646331"/>
          </a:xfrm>
          <a:prstGeom prst="rect">
            <a:avLst/>
          </a:prstGeom>
          <a:noFill/>
        </p:spPr>
        <p:txBody>
          <a:bodyPr wrap="square" rtlCol="0">
            <a:spAutoFit/>
          </a:bodyPr>
          <a:lstStyle/>
          <a:p>
            <a:r>
              <a:rPr lang="fr-FR" dirty="0"/>
              <a:t>Hypothèse : la dynamique des oscillations dans le réseau p53-Mdm2 émerge d’une combinaison entre une boucle de rétroaction négative et positive.</a:t>
            </a:r>
          </a:p>
        </p:txBody>
      </p:sp>
      <p:pic>
        <p:nvPicPr>
          <p:cNvPr id="7" name="Image 6">
            <a:extLst>
              <a:ext uri="{FF2B5EF4-FFF2-40B4-BE49-F238E27FC236}">
                <a16:creationId xmlns:a16="http://schemas.microsoft.com/office/drawing/2014/main" id="{9B04BF91-50BB-6DB2-5E07-604C6A51926F}"/>
              </a:ext>
            </a:extLst>
          </p:cNvPr>
          <p:cNvPicPr>
            <a:picLocks noChangeAspect="1"/>
          </p:cNvPicPr>
          <p:nvPr/>
        </p:nvPicPr>
        <p:blipFill>
          <a:blip r:embed="rId4"/>
          <a:stretch>
            <a:fillRect/>
          </a:stretch>
        </p:blipFill>
        <p:spPr>
          <a:xfrm>
            <a:off x="7184866" y="2201323"/>
            <a:ext cx="4259943" cy="3948946"/>
          </a:xfrm>
          <a:prstGeom prst="rect">
            <a:avLst/>
          </a:prstGeom>
        </p:spPr>
      </p:pic>
    </p:spTree>
    <p:extLst>
      <p:ext uri="{BB962C8B-B14F-4D97-AF65-F5344CB8AC3E}">
        <p14:creationId xmlns:p14="http://schemas.microsoft.com/office/powerpoint/2010/main" val="1966194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66BF9-38EA-FC72-174F-1B0F2E0838B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EC8B11F7-4A45-07C4-DFF7-A4FE417301F6}"/>
              </a:ext>
            </a:extLst>
          </p:cNvPr>
          <p:cNvSpPr txBox="1"/>
          <p:nvPr/>
        </p:nvSpPr>
        <p:spPr>
          <a:xfrm>
            <a:off x="935836" y="268224"/>
            <a:ext cx="10497312" cy="646331"/>
          </a:xfrm>
          <a:prstGeom prst="rect">
            <a:avLst/>
          </a:prstGeom>
          <a:noFill/>
        </p:spPr>
        <p:txBody>
          <a:bodyPr wrap="square" rtlCol="0">
            <a:spAutoFit/>
          </a:bodyPr>
          <a:lstStyle/>
          <a:p>
            <a:r>
              <a:rPr lang="fr-FR" sz="3600" b="1" dirty="0"/>
              <a:t>Simulations</a:t>
            </a:r>
          </a:p>
        </p:txBody>
      </p:sp>
      <p:pic>
        <p:nvPicPr>
          <p:cNvPr id="6" name="Image 5">
            <a:extLst>
              <a:ext uri="{FF2B5EF4-FFF2-40B4-BE49-F238E27FC236}">
                <a16:creationId xmlns:a16="http://schemas.microsoft.com/office/drawing/2014/main" id="{DE25261C-B5DE-C639-026F-39F11FA2B840}"/>
              </a:ext>
            </a:extLst>
          </p:cNvPr>
          <p:cNvPicPr>
            <a:picLocks noChangeAspect="1"/>
          </p:cNvPicPr>
          <p:nvPr/>
        </p:nvPicPr>
        <p:blipFill>
          <a:blip r:embed="rId3"/>
          <a:stretch>
            <a:fillRect/>
          </a:stretch>
        </p:blipFill>
        <p:spPr>
          <a:xfrm>
            <a:off x="1189687" y="1142999"/>
            <a:ext cx="2737869" cy="1353553"/>
          </a:xfrm>
          <a:prstGeom prst="rect">
            <a:avLst/>
          </a:prstGeom>
        </p:spPr>
      </p:pic>
      <p:pic>
        <p:nvPicPr>
          <p:cNvPr id="8" name="Image 7">
            <a:extLst>
              <a:ext uri="{FF2B5EF4-FFF2-40B4-BE49-F238E27FC236}">
                <a16:creationId xmlns:a16="http://schemas.microsoft.com/office/drawing/2014/main" id="{BBCFDFE9-8697-8B76-D890-7457971D5E58}"/>
              </a:ext>
            </a:extLst>
          </p:cNvPr>
          <p:cNvPicPr>
            <a:picLocks noChangeAspect="1"/>
          </p:cNvPicPr>
          <p:nvPr/>
        </p:nvPicPr>
        <p:blipFill>
          <a:blip r:embed="rId4"/>
          <a:stretch>
            <a:fillRect/>
          </a:stretch>
        </p:blipFill>
        <p:spPr>
          <a:xfrm>
            <a:off x="4884148" y="1413944"/>
            <a:ext cx="2600688" cy="962159"/>
          </a:xfrm>
          <a:prstGeom prst="rect">
            <a:avLst/>
          </a:prstGeom>
        </p:spPr>
      </p:pic>
      <p:pic>
        <p:nvPicPr>
          <p:cNvPr id="10" name="Image 9">
            <a:extLst>
              <a:ext uri="{FF2B5EF4-FFF2-40B4-BE49-F238E27FC236}">
                <a16:creationId xmlns:a16="http://schemas.microsoft.com/office/drawing/2014/main" id="{0D098F13-151A-E1BF-FBA8-2770BE928DF6}"/>
              </a:ext>
            </a:extLst>
          </p:cNvPr>
          <p:cNvPicPr>
            <a:picLocks noChangeAspect="1"/>
          </p:cNvPicPr>
          <p:nvPr/>
        </p:nvPicPr>
        <p:blipFill>
          <a:blip r:embed="rId5">
            <a:extLst>
              <a:ext uri="{28A0092B-C50C-407E-A947-70E740481C1C}">
                <a14:useLocalDpi xmlns:a14="http://schemas.microsoft.com/office/drawing/2010/main" val="0"/>
              </a:ext>
            </a:extLst>
          </a:blip>
          <a:srcRect l="9726" t="10628" b="10203"/>
          <a:stretch>
            <a:fillRect/>
          </a:stretch>
        </p:blipFill>
        <p:spPr>
          <a:xfrm>
            <a:off x="1215850" y="3009893"/>
            <a:ext cx="4852121" cy="2704863"/>
          </a:xfrm>
          <a:prstGeom prst="rect">
            <a:avLst/>
          </a:prstGeom>
        </p:spPr>
      </p:pic>
      <p:sp>
        <p:nvSpPr>
          <p:cNvPr id="11" name="ZoneTexte 10">
            <a:extLst>
              <a:ext uri="{FF2B5EF4-FFF2-40B4-BE49-F238E27FC236}">
                <a16:creationId xmlns:a16="http://schemas.microsoft.com/office/drawing/2014/main" id="{D3660CDC-F21E-FB04-B0E2-C55DAF0D0E3B}"/>
              </a:ext>
            </a:extLst>
          </p:cNvPr>
          <p:cNvSpPr txBox="1"/>
          <p:nvPr/>
        </p:nvSpPr>
        <p:spPr>
          <a:xfrm>
            <a:off x="4832087" y="1077561"/>
            <a:ext cx="3476729" cy="307777"/>
          </a:xfrm>
          <a:prstGeom prst="rect">
            <a:avLst/>
          </a:prstGeom>
          <a:noFill/>
        </p:spPr>
        <p:txBody>
          <a:bodyPr wrap="square" rtlCol="0">
            <a:spAutoFit/>
          </a:bodyPr>
          <a:lstStyle/>
          <a:p>
            <a:r>
              <a:rPr lang="fr-FR" sz="1400" b="1" u="sng" dirty="0"/>
              <a:t>Conditions initiales : </a:t>
            </a:r>
          </a:p>
        </p:txBody>
      </p:sp>
      <p:sp>
        <p:nvSpPr>
          <p:cNvPr id="12" name="ZoneTexte 11">
            <a:extLst>
              <a:ext uri="{FF2B5EF4-FFF2-40B4-BE49-F238E27FC236}">
                <a16:creationId xmlns:a16="http://schemas.microsoft.com/office/drawing/2014/main" id="{5771F278-1C83-6E6D-6507-4B0AF58A791D}"/>
              </a:ext>
            </a:extLst>
          </p:cNvPr>
          <p:cNvSpPr txBox="1"/>
          <p:nvPr/>
        </p:nvSpPr>
        <p:spPr>
          <a:xfrm>
            <a:off x="1056953" y="5714756"/>
            <a:ext cx="5011018" cy="230832"/>
          </a:xfrm>
          <a:prstGeom prst="rect">
            <a:avLst/>
          </a:prstGeom>
          <a:noFill/>
        </p:spPr>
        <p:txBody>
          <a:bodyPr wrap="square" rtlCol="0">
            <a:spAutoFit/>
          </a:bodyPr>
          <a:lstStyle/>
          <a:p>
            <a:pPr algn="ctr"/>
            <a:r>
              <a:rPr lang="fr-FR" sz="800" u="sng" dirty="0"/>
              <a:t>Evolution de la concentration (unité non mentionnée) de p53</a:t>
            </a:r>
            <a:r>
              <a:rPr lang="fr-FR" sz="800" u="sng" baseline="-25000" dirty="0"/>
              <a:t>tot</a:t>
            </a:r>
            <a:r>
              <a:rPr lang="fr-FR" sz="800" u="sng" dirty="0"/>
              <a:t> et de mdm2</a:t>
            </a:r>
            <a:r>
              <a:rPr lang="fr-FR" sz="800" u="sng" baseline="-25000" dirty="0"/>
              <a:t>nuc </a:t>
            </a:r>
            <a:r>
              <a:rPr lang="fr-FR" sz="800" u="sng" dirty="0"/>
              <a:t>en fonction du </a:t>
            </a:r>
            <a:r>
              <a:rPr lang="fr-FR" sz="900" u="sng" dirty="0"/>
              <a:t>temps</a:t>
            </a:r>
            <a:r>
              <a:rPr lang="fr-FR" sz="800" u="sng" dirty="0"/>
              <a:t> (min)</a:t>
            </a:r>
          </a:p>
        </p:txBody>
      </p:sp>
      <p:pic>
        <p:nvPicPr>
          <p:cNvPr id="14" name="Image 13">
            <a:extLst>
              <a:ext uri="{FF2B5EF4-FFF2-40B4-BE49-F238E27FC236}">
                <a16:creationId xmlns:a16="http://schemas.microsoft.com/office/drawing/2014/main" id="{ADF5F23A-0A69-AF4E-5C92-1EF6A4B209EE}"/>
              </a:ext>
            </a:extLst>
          </p:cNvPr>
          <p:cNvPicPr>
            <a:picLocks noChangeAspect="1"/>
          </p:cNvPicPr>
          <p:nvPr/>
        </p:nvPicPr>
        <p:blipFill>
          <a:blip r:embed="rId6">
            <a:extLst>
              <a:ext uri="{28A0092B-C50C-407E-A947-70E740481C1C}">
                <a14:useLocalDpi xmlns:a14="http://schemas.microsoft.com/office/drawing/2010/main" val="0"/>
              </a:ext>
            </a:extLst>
          </a:blip>
          <a:srcRect l="13404" t="11023" r="1915" b="12859"/>
          <a:stretch>
            <a:fillRect/>
          </a:stretch>
        </p:blipFill>
        <p:spPr>
          <a:xfrm>
            <a:off x="6570452" y="3009893"/>
            <a:ext cx="4322377" cy="2704863"/>
          </a:xfrm>
          <a:prstGeom prst="rect">
            <a:avLst/>
          </a:prstGeom>
        </p:spPr>
      </p:pic>
      <p:sp>
        <p:nvSpPr>
          <p:cNvPr id="15" name="ZoneTexte 14">
            <a:extLst>
              <a:ext uri="{FF2B5EF4-FFF2-40B4-BE49-F238E27FC236}">
                <a16:creationId xmlns:a16="http://schemas.microsoft.com/office/drawing/2014/main" id="{20C3F643-4043-64C3-8B48-01723C245045}"/>
              </a:ext>
            </a:extLst>
          </p:cNvPr>
          <p:cNvSpPr txBox="1"/>
          <p:nvPr/>
        </p:nvSpPr>
        <p:spPr>
          <a:xfrm>
            <a:off x="6491003" y="5717052"/>
            <a:ext cx="4401826" cy="369332"/>
          </a:xfrm>
          <a:prstGeom prst="rect">
            <a:avLst/>
          </a:prstGeom>
          <a:noFill/>
        </p:spPr>
        <p:txBody>
          <a:bodyPr wrap="square" rtlCol="0">
            <a:spAutoFit/>
          </a:bodyPr>
          <a:lstStyle/>
          <a:p>
            <a:r>
              <a:rPr lang="fr-FR" sz="900" u="sng" dirty="0"/>
              <a:t>Evolution de la concentration (unité non mentionnée) de mdm2</a:t>
            </a:r>
            <a:r>
              <a:rPr lang="fr-FR" sz="900" u="sng" baseline="-25000" dirty="0"/>
              <a:t>cyt</a:t>
            </a:r>
            <a:r>
              <a:rPr lang="fr-FR" sz="900" u="sng" dirty="0"/>
              <a:t> (noir) et de mdm2P</a:t>
            </a:r>
            <a:r>
              <a:rPr lang="fr-FR" sz="900" u="sng" baseline="-25000" dirty="0"/>
              <a:t>cyt </a:t>
            </a:r>
            <a:r>
              <a:rPr lang="fr-FR" sz="900" u="sng" dirty="0"/>
              <a:t>(rouge) en fonction du temps (min)</a:t>
            </a:r>
          </a:p>
        </p:txBody>
      </p:sp>
    </p:spTree>
    <p:extLst>
      <p:ext uri="{BB962C8B-B14F-4D97-AF65-F5344CB8AC3E}">
        <p14:creationId xmlns:p14="http://schemas.microsoft.com/office/powerpoint/2010/main" val="2456562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6C8C8-9367-0799-48A8-3F0ABC361C6C}"/>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CB404D7A-2ACF-6AD2-8E76-7FFAC4644ECA}"/>
              </a:ext>
            </a:extLst>
          </p:cNvPr>
          <p:cNvSpPr txBox="1"/>
          <p:nvPr/>
        </p:nvSpPr>
        <p:spPr>
          <a:xfrm>
            <a:off x="935836" y="268224"/>
            <a:ext cx="10497312" cy="646331"/>
          </a:xfrm>
          <a:prstGeom prst="rect">
            <a:avLst/>
          </a:prstGeom>
          <a:noFill/>
        </p:spPr>
        <p:txBody>
          <a:bodyPr wrap="square" rtlCol="0">
            <a:spAutoFit/>
          </a:bodyPr>
          <a:lstStyle/>
          <a:p>
            <a:r>
              <a:rPr lang="fr-FR" sz="3600" b="1" dirty="0"/>
              <a:t>Simulations</a:t>
            </a:r>
          </a:p>
        </p:txBody>
      </p:sp>
      <p:pic>
        <p:nvPicPr>
          <p:cNvPr id="3" name="Image 2">
            <a:extLst>
              <a:ext uri="{FF2B5EF4-FFF2-40B4-BE49-F238E27FC236}">
                <a16:creationId xmlns:a16="http://schemas.microsoft.com/office/drawing/2014/main" id="{4339B7F3-B306-B40E-B2F9-488383A805B6}"/>
              </a:ext>
            </a:extLst>
          </p:cNvPr>
          <p:cNvPicPr>
            <a:picLocks noChangeAspect="1"/>
          </p:cNvPicPr>
          <p:nvPr/>
        </p:nvPicPr>
        <p:blipFill>
          <a:blip r:embed="rId3">
            <a:extLst>
              <a:ext uri="{28A0092B-C50C-407E-A947-70E740481C1C}">
                <a14:useLocalDpi xmlns:a14="http://schemas.microsoft.com/office/drawing/2010/main" val="0"/>
              </a:ext>
            </a:extLst>
          </a:blip>
          <a:srcRect l="9726" t="10628" b="10203"/>
          <a:stretch>
            <a:fillRect/>
          </a:stretch>
        </p:blipFill>
        <p:spPr>
          <a:xfrm>
            <a:off x="1551060" y="2152642"/>
            <a:ext cx="4852121" cy="2704863"/>
          </a:xfrm>
          <a:prstGeom prst="rect">
            <a:avLst/>
          </a:prstGeom>
        </p:spPr>
      </p:pic>
      <p:pic>
        <p:nvPicPr>
          <p:cNvPr id="4" name="Image 3">
            <a:extLst>
              <a:ext uri="{FF2B5EF4-FFF2-40B4-BE49-F238E27FC236}">
                <a16:creationId xmlns:a16="http://schemas.microsoft.com/office/drawing/2014/main" id="{0346762B-1057-4640-8B55-D308FB9EA6DA}"/>
              </a:ext>
            </a:extLst>
          </p:cNvPr>
          <p:cNvPicPr>
            <a:picLocks noChangeAspect="1"/>
          </p:cNvPicPr>
          <p:nvPr/>
        </p:nvPicPr>
        <p:blipFill>
          <a:blip r:embed="rId4"/>
          <a:stretch>
            <a:fillRect/>
          </a:stretch>
        </p:blipFill>
        <p:spPr>
          <a:xfrm>
            <a:off x="7248083" y="2253569"/>
            <a:ext cx="3323204" cy="2503010"/>
          </a:xfrm>
          <a:prstGeom prst="rect">
            <a:avLst/>
          </a:prstGeom>
        </p:spPr>
      </p:pic>
      <p:sp>
        <p:nvSpPr>
          <p:cNvPr id="5" name="ZoneTexte 4">
            <a:extLst>
              <a:ext uri="{FF2B5EF4-FFF2-40B4-BE49-F238E27FC236}">
                <a16:creationId xmlns:a16="http://schemas.microsoft.com/office/drawing/2014/main" id="{7AB16826-2E50-CB58-28B8-1447EE711C14}"/>
              </a:ext>
            </a:extLst>
          </p:cNvPr>
          <p:cNvSpPr txBox="1"/>
          <p:nvPr/>
        </p:nvSpPr>
        <p:spPr>
          <a:xfrm>
            <a:off x="1392163" y="4857505"/>
            <a:ext cx="5011018" cy="230832"/>
          </a:xfrm>
          <a:prstGeom prst="rect">
            <a:avLst/>
          </a:prstGeom>
          <a:noFill/>
        </p:spPr>
        <p:txBody>
          <a:bodyPr wrap="square" rtlCol="0">
            <a:spAutoFit/>
          </a:bodyPr>
          <a:lstStyle/>
          <a:p>
            <a:pPr algn="ctr"/>
            <a:r>
              <a:rPr lang="fr-FR" sz="800" u="sng" dirty="0"/>
              <a:t>Evolution de la concentration (unité non </a:t>
            </a:r>
            <a:r>
              <a:rPr lang="fr-FR" sz="800" u="sng" dirty="0" err="1"/>
              <a:t>mentionnéé</a:t>
            </a:r>
            <a:r>
              <a:rPr lang="fr-FR" sz="800" u="sng" dirty="0"/>
              <a:t>) de p53</a:t>
            </a:r>
            <a:r>
              <a:rPr lang="fr-FR" sz="800" u="sng" baseline="-25000" dirty="0"/>
              <a:t>tot</a:t>
            </a:r>
            <a:r>
              <a:rPr lang="fr-FR" sz="800" u="sng" dirty="0"/>
              <a:t> et de mdm2</a:t>
            </a:r>
            <a:r>
              <a:rPr lang="fr-FR" sz="800" u="sng" baseline="-25000" dirty="0"/>
              <a:t>nuc </a:t>
            </a:r>
            <a:r>
              <a:rPr lang="fr-FR" sz="800" u="sng" dirty="0"/>
              <a:t>en fonction du </a:t>
            </a:r>
            <a:r>
              <a:rPr lang="fr-FR" sz="900" u="sng" dirty="0"/>
              <a:t>temps</a:t>
            </a:r>
            <a:r>
              <a:rPr lang="fr-FR" sz="800" u="sng" dirty="0"/>
              <a:t> (min)</a:t>
            </a:r>
          </a:p>
        </p:txBody>
      </p:sp>
    </p:spTree>
    <p:extLst>
      <p:ext uri="{BB962C8B-B14F-4D97-AF65-F5344CB8AC3E}">
        <p14:creationId xmlns:p14="http://schemas.microsoft.com/office/powerpoint/2010/main" val="936122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6C556-416E-7F0C-430E-9E1B24FF4451}"/>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1007781-DB21-42C8-9927-5C2D3866E23F}"/>
              </a:ext>
            </a:extLst>
          </p:cNvPr>
          <p:cNvSpPr txBox="1"/>
          <p:nvPr/>
        </p:nvSpPr>
        <p:spPr>
          <a:xfrm>
            <a:off x="935836" y="268224"/>
            <a:ext cx="10497312" cy="646331"/>
          </a:xfrm>
          <a:prstGeom prst="rect">
            <a:avLst/>
          </a:prstGeom>
          <a:noFill/>
        </p:spPr>
        <p:txBody>
          <a:bodyPr wrap="square" rtlCol="0">
            <a:spAutoFit/>
          </a:bodyPr>
          <a:lstStyle/>
          <a:p>
            <a:r>
              <a:rPr lang="fr-FR" sz="3600" b="1" dirty="0"/>
              <a:t>Simulations</a:t>
            </a:r>
          </a:p>
        </p:txBody>
      </p:sp>
      <p:pic>
        <p:nvPicPr>
          <p:cNvPr id="4" name="Image 3">
            <a:extLst>
              <a:ext uri="{FF2B5EF4-FFF2-40B4-BE49-F238E27FC236}">
                <a16:creationId xmlns:a16="http://schemas.microsoft.com/office/drawing/2014/main" id="{087FB805-CE1A-991E-F515-02686985C894}"/>
              </a:ext>
            </a:extLst>
          </p:cNvPr>
          <p:cNvPicPr>
            <a:picLocks noChangeAspect="1"/>
          </p:cNvPicPr>
          <p:nvPr/>
        </p:nvPicPr>
        <p:blipFill>
          <a:blip r:embed="rId3">
            <a:extLst>
              <a:ext uri="{28A0092B-C50C-407E-A947-70E740481C1C}">
                <a14:useLocalDpi xmlns:a14="http://schemas.microsoft.com/office/drawing/2010/main" val="0"/>
              </a:ext>
            </a:extLst>
          </a:blip>
          <a:srcRect l="15697" t="14827" r="1915" b="16869"/>
          <a:stretch>
            <a:fillRect/>
          </a:stretch>
        </p:blipFill>
        <p:spPr>
          <a:xfrm>
            <a:off x="5846900" y="3286125"/>
            <a:ext cx="5650706" cy="3107531"/>
          </a:xfrm>
          <a:prstGeom prst="rect">
            <a:avLst/>
          </a:prstGeom>
        </p:spPr>
      </p:pic>
      <p:pic>
        <p:nvPicPr>
          <p:cNvPr id="6" name="Image 5">
            <a:extLst>
              <a:ext uri="{FF2B5EF4-FFF2-40B4-BE49-F238E27FC236}">
                <a16:creationId xmlns:a16="http://schemas.microsoft.com/office/drawing/2014/main" id="{06D92B33-3429-B067-C5B9-03E6560C061B}"/>
              </a:ext>
            </a:extLst>
          </p:cNvPr>
          <p:cNvPicPr>
            <a:picLocks noChangeAspect="1"/>
          </p:cNvPicPr>
          <p:nvPr/>
        </p:nvPicPr>
        <p:blipFill>
          <a:blip r:embed="rId4">
            <a:extLst>
              <a:ext uri="{28A0092B-C50C-407E-A947-70E740481C1C}">
                <a14:useLocalDpi xmlns:a14="http://schemas.microsoft.com/office/drawing/2010/main" val="0"/>
              </a:ext>
            </a:extLst>
          </a:blip>
          <a:srcRect l="14090" t="13708" r="1252" b="16059"/>
          <a:stretch>
            <a:fillRect/>
          </a:stretch>
        </p:blipFill>
        <p:spPr>
          <a:xfrm>
            <a:off x="5846900" y="268224"/>
            <a:ext cx="5650706" cy="3017901"/>
          </a:xfrm>
          <a:prstGeom prst="rect">
            <a:avLst/>
          </a:prstGeom>
        </p:spPr>
      </p:pic>
      <p:pic>
        <p:nvPicPr>
          <p:cNvPr id="8" name="Image 7">
            <a:extLst>
              <a:ext uri="{FF2B5EF4-FFF2-40B4-BE49-F238E27FC236}">
                <a16:creationId xmlns:a16="http://schemas.microsoft.com/office/drawing/2014/main" id="{C7519638-FAD0-9037-F3CC-2081B7D7D3C6}"/>
              </a:ext>
            </a:extLst>
          </p:cNvPr>
          <p:cNvPicPr>
            <a:picLocks noChangeAspect="1"/>
          </p:cNvPicPr>
          <p:nvPr/>
        </p:nvPicPr>
        <p:blipFill>
          <a:blip r:embed="rId5"/>
          <a:stretch>
            <a:fillRect/>
          </a:stretch>
        </p:blipFill>
        <p:spPr>
          <a:xfrm>
            <a:off x="935836" y="1848479"/>
            <a:ext cx="4715533" cy="3267531"/>
          </a:xfrm>
          <a:prstGeom prst="rect">
            <a:avLst/>
          </a:prstGeom>
        </p:spPr>
      </p:pic>
      <p:sp>
        <p:nvSpPr>
          <p:cNvPr id="3" name="ZoneTexte 2">
            <a:extLst>
              <a:ext uri="{FF2B5EF4-FFF2-40B4-BE49-F238E27FC236}">
                <a16:creationId xmlns:a16="http://schemas.microsoft.com/office/drawing/2014/main" id="{CBB1BB72-6952-C895-58FB-BF97D4364523}"/>
              </a:ext>
            </a:extLst>
          </p:cNvPr>
          <p:cNvSpPr txBox="1"/>
          <p:nvPr/>
        </p:nvSpPr>
        <p:spPr>
          <a:xfrm>
            <a:off x="5846900" y="6393656"/>
            <a:ext cx="5650706" cy="430887"/>
          </a:xfrm>
          <a:prstGeom prst="rect">
            <a:avLst/>
          </a:prstGeom>
          <a:noFill/>
        </p:spPr>
        <p:txBody>
          <a:bodyPr wrap="square" rtlCol="0">
            <a:spAutoFit/>
          </a:bodyPr>
          <a:lstStyle/>
          <a:p>
            <a:r>
              <a:rPr lang="fr-FR" sz="1100" u="sng" dirty="0"/>
              <a:t>Évolution de la concentration (unité non mentionnée) de P53tot (noir) et mdm2nuc (rouge) dans les cellules ayant subit (1) 20 min d’irradiations et (2) 30 min d’irradiations</a:t>
            </a:r>
          </a:p>
        </p:txBody>
      </p:sp>
      <p:sp>
        <p:nvSpPr>
          <p:cNvPr id="5" name="ZoneTexte 4">
            <a:extLst>
              <a:ext uri="{FF2B5EF4-FFF2-40B4-BE49-F238E27FC236}">
                <a16:creationId xmlns:a16="http://schemas.microsoft.com/office/drawing/2014/main" id="{410E850F-1C55-8619-A22B-E2652975E0B2}"/>
              </a:ext>
            </a:extLst>
          </p:cNvPr>
          <p:cNvSpPr txBox="1"/>
          <p:nvPr/>
        </p:nvSpPr>
        <p:spPr>
          <a:xfrm>
            <a:off x="935836" y="5208104"/>
            <a:ext cx="4715533" cy="430887"/>
          </a:xfrm>
          <a:prstGeom prst="rect">
            <a:avLst/>
          </a:prstGeom>
          <a:noFill/>
        </p:spPr>
        <p:txBody>
          <a:bodyPr wrap="square" rtlCol="0">
            <a:spAutoFit/>
          </a:bodyPr>
          <a:lstStyle/>
          <a:p>
            <a:r>
              <a:rPr lang="fr-FR" sz="1100" u="sng" dirty="0"/>
              <a:t>Nombre de pulse (oscillations) du réseau p53/mdm2 en fonction du temps d’irradiations</a:t>
            </a:r>
          </a:p>
        </p:txBody>
      </p:sp>
    </p:spTree>
    <p:extLst>
      <p:ext uri="{BB962C8B-B14F-4D97-AF65-F5344CB8AC3E}">
        <p14:creationId xmlns:p14="http://schemas.microsoft.com/office/powerpoint/2010/main" val="2921938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7F7C2-DA2A-A413-1BED-1BABF53A5A5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5F8E7E79-90DD-9D18-DE50-22A184C02569}"/>
              </a:ext>
            </a:extLst>
          </p:cNvPr>
          <p:cNvSpPr txBox="1"/>
          <p:nvPr/>
        </p:nvSpPr>
        <p:spPr>
          <a:xfrm>
            <a:off x="935836" y="248335"/>
            <a:ext cx="10497312" cy="646331"/>
          </a:xfrm>
          <a:prstGeom prst="rect">
            <a:avLst/>
          </a:prstGeom>
          <a:noFill/>
        </p:spPr>
        <p:txBody>
          <a:bodyPr wrap="square" rtlCol="0">
            <a:spAutoFit/>
          </a:bodyPr>
          <a:lstStyle/>
          <a:p>
            <a:r>
              <a:rPr lang="fr-FR" sz="3600" b="1" dirty="0"/>
              <a:t>Simulations</a:t>
            </a:r>
          </a:p>
        </p:txBody>
      </p:sp>
      <p:pic>
        <p:nvPicPr>
          <p:cNvPr id="5" name="Image 4">
            <a:extLst>
              <a:ext uri="{FF2B5EF4-FFF2-40B4-BE49-F238E27FC236}">
                <a16:creationId xmlns:a16="http://schemas.microsoft.com/office/drawing/2014/main" id="{ECDB3AAB-8746-348B-7C19-B9EC667C6405}"/>
              </a:ext>
            </a:extLst>
          </p:cNvPr>
          <p:cNvPicPr>
            <a:picLocks noChangeAspect="1"/>
          </p:cNvPicPr>
          <p:nvPr/>
        </p:nvPicPr>
        <p:blipFill>
          <a:blip r:embed="rId2">
            <a:extLst>
              <a:ext uri="{28A0092B-C50C-407E-A947-70E740481C1C}">
                <a14:useLocalDpi xmlns:a14="http://schemas.microsoft.com/office/drawing/2010/main" val="0"/>
              </a:ext>
            </a:extLst>
          </a:blip>
          <a:srcRect l="13995" t="8492" r="1210" b="12047"/>
          <a:stretch>
            <a:fillRect/>
          </a:stretch>
        </p:blipFill>
        <p:spPr>
          <a:xfrm>
            <a:off x="935836" y="1335881"/>
            <a:ext cx="8401051" cy="4950618"/>
          </a:xfrm>
          <a:prstGeom prst="rect">
            <a:avLst/>
          </a:prstGeom>
        </p:spPr>
      </p:pic>
      <p:sp>
        <p:nvSpPr>
          <p:cNvPr id="7" name="ZoneTexte 6">
            <a:extLst>
              <a:ext uri="{FF2B5EF4-FFF2-40B4-BE49-F238E27FC236}">
                <a16:creationId xmlns:a16="http://schemas.microsoft.com/office/drawing/2014/main" id="{AC18F9C8-08C3-D493-2AF4-6D1B5E36D59E}"/>
              </a:ext>
            </a:extLst>
          </p:cNvPr>
          <p:cNvSpPr txBox="1"/>
          <p:nvPr/>
        </p:nvSpPr>
        <p:spPr>
          <a:xfrm>
            <a:off x="935836" y="914555"/>
            <a:ext cx="7229470" cy="369332"/>
          </a:xfrm>
          <a:prstGeom prst="rect">
            <a:avLst/>
          </a:prstGeom>
          <a:noFill/>
        </p:spPr>
        <p:txBody>
          <a:bodyPr wrap="square" rtlCol="0">
            <a:spAutoFit/>
          </a:bodyPr>
          <a:lstStyle/>
          <a:p>
            <a:r>
              <a:rPr lang="fr-FR" dirty="0"/>
              <a:t>Diagramme de bifurcation : p53tot en fonction de kd2</a:t>
            </a:r>
          </a:p>
        </p:txBody>
      </p:sp>
    </p:spTree>
    <p:extLst>
      <p:ext uri="{BB962C8B-B14F-4D97-AF65-F5344CB8AC3E}">
        <p14:creationId xmlns:p14="http://schemas.microsoft.com/office/powerpoint/2010/main" val="694566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D469AD7C-4030-4A9D-6A20-1BE79F8F061D}"/>
              </a:ext>
            </a:extLst>
          </p:cNvPr>
          <p:cNvPicPr>
            <a:picLocks noChangeAspect="1"/>
          </p:cNvPicPr>
          <p:nvPr/>
        </p:nvPicPr>
        <p:blipFill>
          <a:blip r:embed="rId2"/>
          <a:stretch>
            <a:fillRect/>
          </a:stretch>
        </p:blipFill>
        <p:spPr>
          <a:xfrm>
            <a:off x="3335790" y="2789370"/>
            <a:ext cx="6687483" cy="2867425"/>
          </a:xfrm>
          <a:prstGeom prst="rect">
            <a:avLst/>
          </a:prstGeom>
        </p:spPr>
      </p:pic>
      <p:sp>
        <p:nvSpPr>
          <p:cNvPr id="4" name="ZoneTexte 3">
            <a:extLst>
              <a:ext uri="{FF2B5EF4-FFF2-40B4-BE49-F238E27FC236}">
                <a16:creationId xmlns:a16="http://schemas.microsoft.com/office/drawing/2014/main" id="{C0563531-5B2C-32BC-EE4F-159FF68C21DD}"/>
              </a:ext>
            </a:extLst>
          </p:cNvPr>
          <p:cNvSpPr txBox="1"/>
          <p:nvPr/>
        </p:nvSpPr>
        <p:spPr>
          <a:xfrm>
            <a:off x="1203159" y="632230"/>
            <a:ext cx="7128710" cy="523220"/>
          </a:xfrm>
          <a:prstGeom prst="rect">
            <a:avLst/>
          </a:prstGeom>
          <a:noFill/>
        </p:spPr>
        <p:txBody>
          <a:bodyPr wrap="square" rtlCol="0">
            <a:spAutoFit/>
          </a:bodyPr>
          <a:lstStyle/>
          <a:p>
            <a:r>
              <a:rPr lang="fr-FR" sz="2800" b="1" dirty="0"/>
              <a:t>Conclusion</a:t>
            </a:r>
          </a:p>
        </p:txBody>
      </p:sp>
      <p:sp>
        <p:nvSpPr>
          <p:cNvPr id="5" name="ZoneTexte 4">
            <a:extLst>
              <a:ext uri="{FF2B5EF4-FFF2-40B4-BE49-F238E27FC236}">
                <a16:creationId xmlns:a16="http://schemas.microsoft.com/office/drawing/2014/main" id="{77C4632C-1DA9-4109-CF7B-DFB02993FEBA}"/>
              </a:ext>
            </a:extLst>
          </p:cNvPr>
          <p:cNvSpPr txBox="1"/>
          <p:nvPr/>
        </p:nvSpPr>
        <p:spPr>
          <a:xfrm>
            <a:off x="1203159" y="1592231"/>
            <a:ext cx="7128709" cy="369332"/>
          </a:xfrm>
          <a:prstGeom prst="rect">
            <a:avLst/>
          </a:prstGeom>
          <a:noFill/>
        </p:spPr>
        <p:txBody>
          <a:bodyPr wrap="square" rtlCol="0">
            <a:spAutoFit/>
          </a:bodyPr>
          <a:lstStyle/>
          <a:p>
            <a:r>
              <a:rPr lang="fr-FR" dirty="0"/>
              <a:t>Quel type de modèle génère les oscillations du réseau p53-Mdm2 ?</a:t>
            </a:r>
          </a:p>
        </p:txBody>
      </p:sp>
    </p:spTree>
    <p:extLst>
      <p:ext uri="{BB962C8B-B14F-4D97-AF65-F5344CB8AC3E}">
        <p14:creationId xmlns:p14="http://schemas.microsoft.com/office/powerpoint/2010/main" val="2934949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9F496-1AE7-DFE9-87BC-B6550E2C7A4B}"/>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60C48AC9-ADF8-5789-C561-E4AC6029A32A}"/>
              </a:ext>
            </a:extLst>
          </p:cNvPr>
          <p:cNvSpPr txBox="1"/>
          <p:nvPr/>
        </p:nvSpPr>
        <p:spPr>
          <a:xfrm>
            <a:off x="1130970" y="201405"/>
            <a:ext cx="7128710" cy="523220"/>
          </a:xfrm>
          <a:prstGeom prst="rect">
            <a:avLst/>
          </a:prstGeom>
          <a:noFill/>
        </p:spPr>
        <p:txBody>
          <a:bodyPr wrap="square" rtlCol="0">
            <a:spAutoFit/>
          </a:bodyPr>
          <a:lstStyle/>
          <a:p>
            <a:r>
              <a:rPr lang="fr-FR" sz="2800" b="1" dirty="0"/>
              <a:t>Conclusion</a:t>
            </a:r>
          </a:p>
        </p:txBody>
      </p:sp>
      <p:sp>
        <p:nvSpPr>
          <p:cNvPr id="5" name="ZoneTexte 4">
            <a:extLst>
              <a:ext uri="{FF2B5EF4-FFF2-40B4-BE49-F238E27FC236}">
                <a16:creationId xmlns:a16="http://schemas.microsoft.com/office/drawing/2014/main" id="{D4F56B4E-8BCE-225D-8126-1898E6A8E410}"/>
              </a:ext>
            </a:extLst>
          </p:cNvPr>
          <p:cNvSpPr txBox="1"/>
          <p:nvPr/>
        </p:nvSpPr>
        <p:spPr>
          <a:xfrm>
            <a:off x="890338" y="1326344"/>
            <a:ext cx="7128709" cy="369332"/>
          </a:xfrm>
          <a:prstGeom prst="rect">
            <a:avLst/>
          </a:prstGeom>
          <a:noFill/>
        </p:spPr>
        <p:txBody>
          <a:bodyPr wrap="square" rtlCol="0">
            <a:spAutoFit/>
          </a:bodyPr>
          <a:lstStyle/>
          <a:p>
            <a:r>
              <a:rPr lang="fr-FR" dirty="0"/>
              <a:t>Quel type de modèle génère les oscillations du réseau p53-Mdm2 ?</a:t>
            </a:r>
          </a:p>
        </p:txBody>
      </p:sp>
      <p:pic>
        <p:nvPicPr>
          <p:cNvPr id="6" name="Image 5">
            <a:extLst>
              <a:ext uri="{FF2B5EF4-FFF2-40B4-BE49-F238E27FC236}">
                <a16:creationId xmlns:a16="http://schemas.microsoft.com/office/drawing/2014/main" id="{28BFCF1F-7E72-EC93-E517-407FF9BE5190}"/>
              </a:ext>
            </a:extLst>
          </p:cNvPr>
          <p:cNvPicPr>
            <a:picLocks noChangeAspect="1"/>
          </p:cNvPicPr>
          <p:nvPr/>
        </p:nvPicPr>
        <p:blipFill>
          <a:blip r:embed="rId3">
            <a:extLst>
              <a:ext uri="{28A0092B-C50C-407E-A947-70E740481C1C}">
                <a14:useLocalDpi xmlns:a14="http://schemas.microsoft.com/office/drawing/2010/main" val="0"/>
              </a:ext>
            </a:extLst>
          </a:blip>
          <a:srcRect l="10742" t="6600" r="898" b="9187"/>
          <a:stretch>
            <a:fillRect/>
          </a:stretch>
        </p:blipFill>
        <p:spPr>
          <a:xfrm>
            <a:off x="890338" y="2297396"/>
            <a:ext cx="5035215" cy="3508890"/>
          </a:xfrm>
          <a:prstGeom prst="rect">
            <a:avLst/>
          </a:prstGeom>
        </p:spPr>
      </p:pic>
      <p:pic>
        <p:nvPicPr>
          <p:cNvPr id="8" name="Image 7">
            <a:extLst>
              <a:ext uri="{FF2B5EF4-FFF2-40B4-BE49-F238E27FC236}">
                <a16:creationId xmlns:a16="http://schemas.microsoft.com/office/drawing/2014/main" id="{2212644C-C1B5-8700-3BB4-6DD72D62B18D}"/>
              </a:ext>
            </a:extLst>
          </p:cNvPr>
          <p:cNvPicPr>
            <a:picLocks noChangeAspect="1"/>
          </p:cNvPicPr>
          <p:nvPr/>
        </p:nvPicPr>
        <p:blipFill>
          <a:blip r:embed="rId4">
            <a:extLst>
              <a:ext uri="{28A0092B-C50C-407E-A947-70E740481C1C}">
                <a14:useLocalDpi xmlns:a14="http://schemas.microsoft.com/office/drawing/2010/main" val="0"/>
              </a:ext>
            </a:extLst>
          </a:blip>
          <a:srcRect l="17512" t="15054" r="1816" b="17561"/>
          <a:stretch>
            <a:fillRect/>
          </a:stretch>
        </p:blipFill>
        <p:spPr>
          <a:xfrm>
            <a:off x="6266448" y="2548438"/>
            <a:ext cx="5606715" cy="2911642"/>
          </a:xfrm>
          <a:prstGeom prst="rect">
            <a:avLst/>
          </a:prstGeom>
        </p:spPr>
      </p:pic>
      <p:sp>
        <p:nvSpPr>
          <p:cNvPr id="9" name="ZoneTexte 8">
            <a:extLst>
              <a:ext uri="{FF2B5EF4-FFF2-40B4-BE49-F238E27FC236}">
                <a16:creationId xmlns:a16="http://schemas.microsoft.com/office/drawing/2014/main" id="{04EC2C88-F871-E4FC-E366-216460B07A6E}"/>
              </a:ext>
            </a:extLst>
          </p:cNvPr>
          <p:cNvSpPr txBox="1"/>
          <p:nvPr/>
        </p:nvSpPr>
        <p:spPr>
          <a:xfrm>
            <a:off x="6266447" y="5546558"/>
            <a:ext cx="5606715" cy="600164"/>
          </a:xfrm>
          <a:prstGeom prst="rect">
            <a:avLst/>
          </a:prstGeom>
          <a:noFill/>
        </p:spPr>
        <p:txBody>
          <a:bodyPr wrap="square" rtlCol="0">
            <a:spAutoFit/>
          </a:bodyPr>
          <a:lstStyle/>
          <a:p>
            <a:r>
              <a:rPr lang="fr-FR" sz="1100" u="sng" dirty="0"/>
              <a:t>Evolution de la concentration de p53tot en fonction du temps avec une augmentation temporaire de son taux de transcription (ks53 = 0.1) jusqu’à t = 800min, dans un modèle sans boucle négative (ks2 = 0)</a:t>
            </a:r>
          </a:p>
        </p:txBody>
      </p:sp>
      <p:sp>
        <p:nvSpPr>
          <p:cNvPr id="10" name="ZoneTexte 9">
            <a:extLst>
              <a:ext uri="{FF2B5EF4-FFF2-40B4-BE49-F238E27FC236}">
                <a16:creationId xmlns:a16="http://schemas.microsoft.com/office/drawing/2014/main" id="{FB93D7C9-A4F6-349F-AAA7-6E0296DF2214}"/>
              </a:ext>
            </a:extLst>
          </p:cNvPr>
          <p:cNvSpPr txBox="1"/>
          <p:nvPr/>
        </p:nvSpPr>
        <p:spPr>
          <a:xfrm>
            <a:off x="890338" y="5865394"/>
            <a:ext cx="5095373" cy="430887"/>
          </a:xfrm>
          <a:prstGeom prst="rect">
            <a:avLst/>
          </a:prstGeom>
          <a:noFill/>
        </p:spPr>
        <p:txBody>
          <a:bodyPr wrap="square" rtlCol="0">
            <a:spAutoFit/>
          </a:bodyPr>
          <a:lstStyle/>
          <a:p>
            <a:r>
              <a:rPr lang="fr-FR" sz="1100" u="sng" dirty="0"/>
              <a:t>Diagramme de bifurcation de p53tot en fonction de kd2 dans un modèle sans boucle négative (ks2=0)</a:t>
            </a:r>
          </a:p>
        </p:txBody>
      </p:sp>
    </p:spTree>
    <p:extLst>
      <p:ext uri="{BB962C8B-B14F-4D97-AF65-F5344CB8AC3E}">
        <p14:creationId xmlns:p14="http://schemas.microsoft.com/office/powerpoint/2010/main" val="3967856273"/>
      </p:ext>
    </p:extLst>
  </p:cSld>
  <p:clrMapOvr>
    <a:masterClrMapping/>
  </p:clrMapOvr>
</p:sld>
</file>

<file path=ppt/theme/theme1.xml><?xml version="1.0" encoding="utf-8"?>
<a:theme xmlns:a="http://schemas.openxmlformats.org/drawingml/2006/main" name="Cadrage">
  <a:themeElements>
    <a:clrScheme name="Cadrage">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adrage">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adra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TM10001105[[fn=Cadrage]]</Template>
  <TotalTime>973</TotalTime>
  <Words>1429</Words>
  <Application>Microsoft Office PowerPoint</Application>
  <PresentationFormat>Grand écran</PresentationFormat>
  <Paragraphs>72</Paragraphs>
  <Slides>13</Slides>
  <Notes>6</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Arial</vt:lpstr>
      <vt:lpstr>Franklin Gothic Book</vt:lpstr>
      <vt:lpstr>Cadrage</vt:lpstr>
      <vt:lpstr>Steady states and Oscillations in the p53/mdm2 Network Andrea Ciliberto, Béla Novak, John j. Tyson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ROUX Nicolas</dc:creator>
  <cp:lastModifiedBy>ROUX Nicolas</cp:lastModifiedBy>
  <cp:revision>5</cp:revision>
  <dcterms:created xsi:type="dcterms:W3CDTF">2026-03-25T15:55:44Z</dcterms:created>
  <dcterms:modified xsi:type="dcterms:W3CDTF">2026-03-30T12:11:06Z</dcterms:modified>
</cp:coreProperties>
</file>